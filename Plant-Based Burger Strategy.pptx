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Aryan Rajashekhar" userId="3518d58e1d7728c6" providerId="LiveId" clId="{DA9C011A-F9EA-4AFD-97FF-CEDB24E08AB3}"/>
    <pc:docChg chg="custSel modSld">
      <pc:chgData name="Rahul Aryan Rajashekhar" userId="3518d58e1d7728c6" providerId="LiveId" clId="{DA9C011A-F9EA-4AFD-97FF-CEDB24E08AB3}" dt="2025-05-22T12:53:30.171" v="54" actId="27636"/>
      <pc:docMkLst>
        <pc:docMk/>
      </pc:docMkLst>
      <pc:sldChg chg="addSp delSp modSp mod">
        <pc:chgData name="Rahul Aryan Rajashekhar" userId="3518d58e1d7728c6" providerId="LiveId" clId="{DA9C011A-F9EA-4AFD-97FF-CEDB24E08AB3}" dt="2025-05-22T12:44:16.393" v="52" actId="1036"/>
        <pc:sldMkLst>
          <pc:docMk/>
          <pc:sldMk cId="2003987460" sldId="260"/>
        </pc:sldMkLst>
        <pc:spChg chg="add del mod">
          <ac:chgData name="Rahul Aryan Rajashekhar" userId="3518d58e1d7728c6" providerId="LiveId" clId="{DA9C011A-F9EA-4AFD-97FF-CEDB24E08AB3}" dt="2025-05-22T12:43:26.509" v="49" actId="22"/>
          <ac:spMkLst>
            <pc:docMk/>
            <pc:sldMk cId="2003987460" sldId="260"/>
            <ac:spMk id="4" creationId="{CF91062F-CF58-4964-8A82-9459DE058A00}"/>
          </ac:spMkLst>
        </pc:spChg>
        <pc:picChg chg="del">
          <ac:chgData name="Rahul Aryan Rajashekhar" userId="3518d58e1d7728c6" providerId="LiveId" clId="{DA9C011A-F9EA-4AFD-97FF-CEDB24E08AB3}" dt="2025-05-22T12:43:23.251" v="48" actId="478"/>
          <ac:picMkLst>
            <pc:docMk/>
            <pc:sldMk cId="2003987460" sldId="260"/>
            <ac:picMk id="5" creationId="{4B795651-8037-C601-608C-6C31318A4B16}"/>
          </ac:picMkLst>
        </pc:picChg>
        <pc:picChg chg="add mod ord">
          <ac:chgData name="Rahul Aryan Rajashekhar" userId="3518d58e1d7728c6" providerId="LiveId" clId="{DA9C011A-F9EA-4AFD-97FF-CEDB24E08AB3}" dt="2025-05-22T12:44:16.393" v="52" actId="1036"/>
          <ac:picMkLst>
            <pc:docMk/>
            <pc:sldMk cId="2003987460" sldId="260"/>
            <ac:picMk id="8" creationId="{2F33B392-0C9D-67D8-CC38-054A58A9A8AA}"/>
          </ac:picMkLst>
        </pc:picChg>
      </pc:sldChg>
      <pc:sldChg chg="addSp delSp modSp mod">
        <pc:chgData name="Rahul Aryan Rajashekhar" userId="3518d58e1d7728c6" providerId="LiveId" clId="{DA9C011A-F9EA-4AFD-97FF-CEDB24E08AB3}" dt="2025-05-22T11:10:29.443" v="47" actId="27636"/>
        <pc:sldMkLst>
          <pc:docMk/>
          <pc:sldMk cId="3173433900" sldId="263"/>
        </pc:sldMkLst>
        <pc:spChg chg="mod">
          <ac:chgData name="Rahul Aryan Rajashekhar" userId="3518d58e1d7728c6" providerId="LiveId" clId="{DA9C011A-F9EA-4AFD-97FF-CEDB24E08AB3}" dt="2025-05-22T11:10:29.443" v="47" actId="27636"/>
          <ac:spMkLst>
            <pc:docMk/>
            <pc:sldMk cId="3173433900" sldId="263"/>
            <ac:spMk id="7" creationId="{80317C2F-CB69-66FA-BDBF-D70039600480}"/>
          </ac:spMkLst>
        </pc:spChg>
        <pc:spChg chg="add del mod">
          <ac:chgData name="Rahul Aryan Rajashekhar" userId="3518d58e1d7728c6" providerId="LiveId" clId="{DA9C011A-F9EA-4AFD-97FF-CEDB24E08AB3}" dt="2025-05-22T11:06:25.888" v="3" actId="478"/>
          <ac:spMkLst>
            <pc:docMk/>
            <pc:sldMk cId="3173433900" sldId="263"/>
            <ac:spMk id="11" creationId="{8E78C286-9C8A-1727-6B6E-488EC0E925FD}"/>
          </ac:spMkLst>
        </pc:spChg>
        <pc:picChg chg="del">
          <ac:chgData name="Rahul Aryan Rajashekhar" userId="3518d58e1d7728c6" providerId="LiveId" clId="{DA9C011A-F9EA-4AFD-97FF-CEDB24E08AB3}" dt="2025-05-22T11:04:51.131" v="1" actId="478"/>
          <ac:picMkLst>
            <pc:docMk/>
            <pc:sldMk cId="3173433900" sldId="263"/>
            <ac:picMk id="5" creationId="{BFDB1E07-BB5E-C2B8-2257-9D93FFB8D16B}"/>
          </ac:picMkLst>
        </pc:picChg>
        <pc:picChg chg="add mod">
          <ac:chgData name="Rahul Aryan Rajashekhar" userId="3518d58e1d7728c6" providerId="LiveId" clId="{DA9C011A-F9EA-4AFD-97FF-CEDB24E08AB3}" dt="2025-05-22T11:04:54.263" v="2" actId="1076"/>
          <ac:picMkLst>
            <pc:docMk/>
            <pc:sldMk cId="3173433900" sldId="263"/>
            <ac:picMk id="9" creationId="{F543C077-46DC-317C-AF01-24B822A603CD}"/>
          </ac:picMkLst>
        </pc:picChg>
      </pc:sldChg>
      <pc:sldChg chg="modSp mod">
        <pc:chgData name="Rahul Aryan Rajashekhar" userId="3518d58e1d7728c6" providerId="LiveId" clId="{DA9C011A-F9EA-4AFD-97FF-CEDB24E08AB3}" dt="2025-05-22T12:53:30.171" v="54" actId="27636"/>
        <pc:sldMkLst>
          <pc:docMk/>
          <pc:sldMk cId="3911381283" sldId="265"/>
        </pc:sldMkLst>
        <pc:spChg chg="mod">
          <ac:chgData name="Rahul Aryan Rajashekhar" userId="3518d58e1d7728c6" providerId="LiveId" clId="{DA9C011A-F9EA-4AFD-97FF-CEDB24E08AB3}" dt="2025-05-22T12:53:30.171" v="54" actId="27636"/>
          <ac:spMkLst>
            <pc:docMk/>
            <pc:sldMk cId="3911381283" sldId="265"/>
            <ac:spMk id="3" creationId="{0EC49F00-31F9-0F68-A60E-C42C76E8A2BF}"/>
          </ac:spMkLst>
        </pc:spChg>
      </pc:sldChg>
      <pc:sldChg chg="addSp delSp modSp mod">
        <pc:chgData name="Rahul Aryan Rajashekhar" userId="3518d58e1d7728c6" providerId="LiveId" clId="{DA9C011A-F9EA-4AFD-97FF-CEDB24E08AB3}" dt="2025-05-22T11:10:12.823" v="43" actId="27636"/>
        <pc:sldMkLst>
          <pc:docMk/>
          <pc:sldMk cId="938590346" sldId="270"/>
        </pc:sldMkLst>
        <pc:spChg chg="mod">
          <ac:chgData name="Rahul Aryan Rajashekhar" userId="3518d58e1d7728c6" providerId="LiveId" clId="{DA9C011A-F9EA-4AFD-97FF-CEDB24E08AB3}" dt="2025-05-22T11:08:38.355" v="30" actId="1076"/>
          <ac:spMkLst>
            <pc:docMk/>
            <pc:sldMk cId="938590346" sldId="270"/>
            <ac:spMk id="2" creationId="{69F89A2F-69F1-03AD-2066-ED6E1E3249D8}"/>
          </ac:spMkLst>
        </pc:spChg>
        <pc:spChg chg="mod">
          <ac:chgData name="Rahul Aryan Rajashekhar" userId="3518d58e1d7728c6" providerId="LiveId" clId="{DA9C011A-F9EA-4AFD-97FF-CEDB24E08AB3}" dt="2025-05-22T11:10:12.823" v="43" actId="27636"/>
          <ac:spMkLst>
            <pc:docMk/>
            <pc:sldMk cId="938590346" sldId="270"/>
            <ac:spMk id="3" creationId="{8AC89FA5-F12B-4EF3-4FBB-117CFC6DFD26}"/>
          </ac:spMkLst>
        </pc:spChg>
        <pc:spChg chg="del mod">
          <ac:chgData name="Rahul Aryan Rajashekhar" userId="3518d58e1d7728c6" providerId="LiveId" clId="{DA9C011A-F9EA-4AFD-97FF-CEDB24E08AB3}" dt="2025-05-22T11:07:29.512" v="18" actId="478"/>
          <ac:spMkLst>
            <pc:docMk/>
            <pc:sldMk cId="938590346" sldId="270"/>
            <ac:spMk id="5" creationId="{94295912-BA69-C8B2-43A9-1F9D3E6DD1D2}"/>
          </ac:spMkLst>
        </pc:spChg>
        <pc:spChg chg="mod">
          <ac:chgData name="Rahul Aryan Rajashekhar" userId="3518d58e1d7728c6" providerId="LiveId" clId="{DA9C011A-F9EA-4AFD-97FF-CEDB24E08AB3}" dt="2025-05-22T11:08:52.255" v="33" actId="403"/>
          <ac:spMkLst>
            <pc:docMk/>
            <pc:sldMk cId="938590346" sldId="270"/>
            <ac:spMk id="7" creationId="{4277C895-0D6C-2231-D909-A3F8BBCABFD6}"/>
          </ac:spMkLst>
        </pc:spChg>
        <pc:picChg chg="add mod">
          <ac:chgData name="Rahul Aryan Rajashekhar" userId="3518d58e1d7728c6" providerId="LiveId" clId="{DA9C011A-F9EA-4AFD-97FF-CEDB24E08AB3}" dt="2025-05-22T11:09:26.301" v="36" actId="14100"/>
          <ac:picMkLst>
            <pc:docMk/>
            <pc:sldMk cId="938590346" sldId="270"/>
            <ac:picMk id="9" creationId="{985EDB93-770C-26DC-ADC1-1021FC6C9E4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5A69B5-9B4F-46BC-881A-BAB6006B2FA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8E9D73-8DFA-496E-9F6F-02F1C09880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 b="1" dirty="0">
              <a:latin typeface="Aptos" panose="020B0004020202020204" pitchFamily="34" charset="0"/>
            </a:rPr>
            <a:t>Product category: </a:t>
          </a:r>
          <a:r>
            <a:rPr lang="en-AU" dirty="0">
              <a:latin typeface="Aptos" panose="020B0004020202020204" pitchFamily="34" charset="0"/>
            </a:rPr>
            <a:t>Plant-based burgers</a:t>
          </a:r>
          <a:endParaRPr lang="en-US" dirty="0">
            <a:latin typeface="Aptos" panose="020B0004020202020204" pitchFamily="34" charset="0"/>
          </a:endParaRPr>
        </a:p>
      </dgm:t>
    </dgm:pt>
    <dgm:pt modelId="{C6813E65-0E99-4893-A836-B06BC5716CC3}" type="parTrans" cxnId="{76BC3AA8-19B3-4971-8FBA-EAB753CAAE3C}">
      <dgm:prSet/>
      <dgm:spPr/>
      <dgm:t>
        <a:bodyPr/>
        <a:lstStyle/>
        <a:p>
          <a:endParaRPr lang="en-US"/>
        </a:p>
      </dgm:t>
    </dgm:pt>
    <dgm:pt modelId="{2B4BDCF6-7563-4FEA-8193-3412A38FE560}" type="sibTrans" cxnId="{76BC3AA8-19B3-4971-8FBA-EAB753CAAE3C}">
      <dgm:prSet/>
      <dgm:spPr/>
      <dgm:t>
        <a:bodyPr/>
        <a:lstStyle/>
        <a:p>
          <a:endParaRPr lang="en-US"/>
        </a:p>
      </dgm:t>
    </dgm:pt>
    <dgm:pt modelId="{B5A56550-7491-47F3-B6F6-B3487F3DD7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 b="1">
              <a:latin typeface="Aptos" panose="020B0004020202020204" pitchFamily="34" charset="0"/>
            </a:rPr>
            <a:t>Brand: </a:t>
          </a:r>
          <a:r>
            <a:rPr lang="en-AU">
              <a:latin typeface="Aptos" panose="020B0004020202020204" pitchFamily="34" charset="0"/>
            </a:rPr>
            <a:t>McDonald’s</a:t>
          </a:r>
          <a:endParaRPr lang="en-US">
            <a:latin typeface="Aptos" panose="020B0004020202020204" pitchFamily="34" charset="0"/>
          </a:endParaRPr>
        </a:p>
      </dgm:t>
    </dgm:pt>
    <dgm:pt modelId="{C3BFCE79-63CC-4822-803F-149181167AC7}" type="parTrans" cxnId="{F3667588-1DD6-4F1B-AB77-48710648137F}">
      <dgm:prSet/>
      <dgm:spPr/>
      <dgm:t>
        <a:bodyPr/>
        <a:lstStyle/>
        <a:p>
          <a:endParaRPr lang="en-US"/>
        </a:p>
      </dgm:t>
    </dgm:pt>
    <dgm:pt modelId="{040FE021-C4D9-4B83-9C86-A1325C9DA253}" type="sibTrans" cxnId="{F3667588-1DD6-4F1B-AB77-48710648137F}">
      <dgm:prSet/>
      <dgm:spPr/>
      <dgm:t>
        <a:bodyPr/>
        <a:lstStyle/>
        <a:p>
          <a:endParaRPr lang="en-US"/>
        </a:p>
      </dgm:t>
    </dgm:pt>
    <dgm:pt modelId="{1177FC8B-ACAF-4A62-B9FB-7974856A78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 b="1">
              <a:latin typeface="Aptos" panose="020B0004020202020204" pitchFamily="34" charset="0"/>
            </a:rPr>
            <a:t>Attributes and Levels:</a:t>
          </a:r>
          <a:endParaRPr lang="en-US">
            <a:latin typeface="Aptos" panose="020B0004020202020204" pitchFamily="34" charset="0"/>
          </a:endParaRPr>
        </a:p>
      </dgm:t>
    </dgm:pt>
    <dgm:pt modelId="{19E4AB1C-F7C6-416A-B1FE-F6F9404B3B7E}" type="parTrans" cxnId="{DBBDFBD3-DF9B-4CFE-A690-FB417ADE5956}">
      <dgm:prSet/>
      <dgm:spPr/>
      <dgm:t>
        <a:bodyPr/>
        <a:lstStyle/>
        <a:p>
          <a:endParaRPr lang="en-US"/>
        </a:p>
      </dgm:t>
    </dgm:pt>
    <dgm:pt modelId="{5DD401A1-1416-484C-B4BC-6A5284882269}" type="sibTrans" cxnId="{DBBDFBD3-DF9B-4CFE-A690-FB417ADE5956}">
      <dgm:prSet/>
      <dgm:spPr/>
      <dgm:t>
        <a:bodyPr/>
        <a:lstStyle/>
        <a:p>
          <a:endParaRPr lang="en-US"/>
        </a:p>
      </dgm:t>
    </dgm:pt>
    <dgm:pt modelId="{DC25AD47-ADA0-449E-8EB8-BCE86798A09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>
              <a:latin typeface="Aptos" panose="020B0004020202020204" pitchFamily="34" charset="0"/>
            </a:rPr>
            <a:t>Patty Type</a:t>
          </a:r>
          <a:r>
            <a:rPr lang="en-AU">
              <a:latin typeface="Aptos" panose="020B0004020202020204" pitchFamily="34" charset="0"/>
            </a:rPr>
            <a:t>: Paneer, Potato, Cauliflower, Soy</a:t>
          </a:r>
          <a:endParaRPr lang="en-US">
            <a:latin typeface="Aptos" panose="020B0004020202020204" pitchFamily="34" charset="0"/>
          </a:endParaRPr>
        </a:p>
      </dgm:t>
    </dgm:pt>
    <dgm:pt modelId="{65B2E515-242F-49AC-8471-1C827C89EEC9}" type="parTrans" cxnId="{33FC21DE-6263-4F0B-B0A6-504DFC925C8B}">
      <dgm:prSet/>
      <dgm:spPr/>
      <dgm:t>
        <a:bodyPr/>
        <a:lstStyle/>
        <a:p>
          <a:endParaRPr lang="en-US"/>
        </a:p>
      </dgm:t>
    </dgm:pt>
    <dgm:pt modelId="{A1817D86-9E7C-4F9D-8555-BF476E86052B}" type="sibTrans" cxnId="{33FC21DE-6263-4F0B-B0A6-504DFC925C8B}">
      <dgm:prSet/>
      <dgm:spPr/>
      <dgm:t>
        <a:bodyPr/>
        <a:lstStyle/>
        <a:p>
          <a:endParaRPr lang="en-US"/>
        </a:p>
      </dgm:t>
    </dgm:pt>
    <dgm:pt modelId="{E4083EB7-5B7D-4894-833F-04C208EAC81C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>
              <a:latin typeface="Aptos" panose="020B0004020202020204" pitchFamily="34" charset="0"/>
            </a:rPr>
            <a:t>Bread Type: </a:t>
          </a:r>
          <a:r>
            <a:rPr lang="en-AU">
              <a:latin typeface="Aptos" panose="020B0004020202020204" pitchFamily="34" charset="0"/>
            </a:rPr>
            <a:t>Multigrain, Brioche, Whole Wheat, Gluten Free</a:t>
          </a:r>
          <a:endParaRPr lang="en-US">
            <a:latin typeface="Aptos" panose="020B0004020202020204" pitchFamily="34" charset="0"/>
          </a:endParaRPr>
        </a:p>
      </dgm:t>
    </dgm:pt>
    <dgm:pt modelId="{1443D3D0-5DCD-4419-B792-ED18DE99F11F}" type="parTrans" cxnId="{BA9CFFA1-7FDE-40C0-A18B-D9825D98D0C3}">
      <dgm:prSet/>
      <dgm:spPr/>
      <dgm:t>
        <a:bodyPr/>
        <a:lstStyle/>
        <a:p>
          <a:endParaRPr lang="en-US"/>
        </a:p>
      </dgm:t>
    </dgm:pt>
    <dgm:pt modelId="{DC0B3C7C-CBE9-41A5-A263-5FB227AE7914}" type="sibTrans" cxnId="{BA9CFFA1-7FDE-40C0-A18B-D9825D98D0C3}">
      <dgm:prSet/>
      <dgm:spPr/>
      <dgm:t>
        <a:bodyPr/>
        <a:lstStyle/>
        <a:p>
          <a:endParaRPr lang="en-US"/>
        </a:p>
      </dgm:t>
    </dgm:pt>
    <dgm:pt modelId="{CC6258B3-A578-4DD5-BF21-A9D17CEE485A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>
              <a:latin typeface="Aptos" panose="020B0004020202020204" pitchFamily="34" charset="0"/>
            </a:rPr>
            <a:t>Number of Patties: </a:t>
          </a:r>
          <a:r>
            <a:rPr lang="en-AU">
              <a:latin typeface="Aptos" panose="020B0004020202020204" pitchFamily="34" charset="0"/>
            </a:rPr>
            <a:t>Single, Double</a:t>
          </a:r>
          <a:endParaRPr lang="en-US">
            <a:latin typeface="Aptos" panose="020B0004020202020204" pitchFamily="34" charset="0"/>
          </a:endParaRPr>
        </a:p>
      </dgm:t>
    </dgm:pt>
    <dgm:pt modelId="{AC1E92E9-5B0D-405B-BAB9-4F7B1A1CDE76}" type="parTrans" cxnId="{B0EB93D0-6DE3-4B20-820B-B4CB0E38B0E4}">
      <dgm:prSet/>
      <dgm:spPr/>
      <dgm:t>
        <a:bodyPr/>
        <a:lstStyle/>
        <a:p>
          <a:endParaRPr lang="en-US"/>
        </a:p>
      </dgm:t>
    </dgm:pt>
    <dgm:pt modelId="{03381B8C-A9C8-4A78-BC65-8DB0846BD6DD}" type="sibTrans" cxnId="{B0EB93D0-6DE3-4B20-820B-B4CB0E38B0E4}">
      <dgm:prSet/>
      <dgm:spPr/>
      <dgm:t>
        <a:bodyPr/>
        <a:lstStyle/>
        <a:p>
          <a:endParaRPr lang="en-US"/>
        </a:p>
      </dgm:t>
    </dgm:pt>
    <dgm:pt modelId="{764DD8A7-29A9-40D7-AEA0-24473A7F4A54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>
              <a:latin typeface="Aptos" panose="020B0004020202020204" pitchFamily="34" charset="0"/>
            </a:rPr>
            <a:t>Price: </a:t>
          </a:r>
          <a:r>
            <a:rPr lang="en-AU">
              <a:latin typeface="Aptos" panose="020B0004020202020204" pitchFamily="34" charset="0"/>
            </a:rPr>
            <a:t>$8.95, $11.95</a:t>
          </a:r>
          <a:endParaRPr lang="en-US">
            <a:latin typeface="Aptos" panose="020B0004020202020204" pitchFamily="34" charset="0"/>
          </a:endParaRPr>
        </a:p>
      </dgm:t>
    </dgm:pt>
    <dgm:pt modelId="{6DECCE10-D2AF-4AFE-86C1-AF0BD6FAD6C9}" type="parTrans" cxnId="{620A5C9D-CC2B-447C-8485-35BD4E055054}">
      <dgm:prSet/>
      <dgm:spPr/>
      <dgm:t>
        <a:bodyPr/>
        <a:lstStyle/>
        <a:p>
          <a:endParaRPr lang="en-US"/>
        </a:p>
      </dgm:t>
    </dgm:pt>
    <dgm:pt modelId="{1C8149B7-6739-4B45-944B-8F9ECD70FF7C}" type="sibTrans" cxnId="{620A5C9D-CC2B-447C-8485-35BD4E055054}">
      <dgm:prSet/>
      <dgm:spPr/>
      <dgm:t>
        <a:bodyPr/>
        <a:lstStyle/>
        <a:p>
          <a:endParaRPr lang="en-US"/>
        </a:p>
      </dgm:t>
    </dgm:pt>
    <dgm:pt modelId="{E7B27140-5354-4668-8322-7CA6128672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>
              <a:latin typeface="Aptos" panose="020B0004020202020204" pitchFamily="34" charset="0"/>
            </a:rPr>
            <a:t>Full profile conjoint with </a:t>
          </a:r>
          <a:r>
            <a:rPr lang="en-AU" b="1">
              <a:latin typeface="Aptos" panose="020B0004020202020204" pitchFamily="34" charset="0"/>
            </a:rPr>
            <a:t>9 product profiles </a:t>
          </a:r>
          <a:r>
            <a:rPr lang="en-AU">
              <a:latin typeface="Aptos" panose="020B0004020202020204" pitchFamily="34" charset="0"/>
            </a:rPr>
            <a:t>evaluated</a:t>
          </a:r>
          <a:endParaRPr lang="en-US">
            <a:latin typeface="Aptos" panose="020B0004020202020204" pitchFamily="34" charset="0"/>
          </a:endParaRPr>
        </a:p>
      </dgm:t>
    </dgm:pt>
    <dgm:pt modelId="{587EA2CC-BB41-456E-8BB9-AA6CA24420D2}" type="parTrans" cxnId="{97C6E78E-2B51-4F67-9EF3-7308FEC49272}">
      <dgm:prSet/>
      <dgm:spPr/>
      <dgm:t>
        <a:bodyPr/>
        <a:lstStyle/>
        <a:p>
          <a:endParaRPr lang="en-US"/>
        </a:p>
      </dgm:t>
    </dgm:pt>
    <dgm:pt modelId="{8D69D91B-549F-4412-B0F2-D0E55C7690C1}" type="sibTrans" cxnId="{97C6E78E-2B51-4F67-9EF3-7308FEC49272}">
      <dgm:prSet/>
      <dgm:spPr/>
      <dgm:t>
        <a:bodyPr/>
        <a:lstStyle/>
        <a:p>
          <a:endParaRPr lang="en-US"/>
        </a:p>
      </dgm:t>
    </dgm:pt>
    <dgm:pt modelId="{FE115D16-143C-4F72-981B-0C152FECBF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>
              <a:latin typeface="Aptos" panose="020B0004020202020204" pitchFamily="34" charset="0"/>
            </a:rPr>
            <a:t>Tool used</a:t>
          </a:r>
          <a:r>
            <a:rPr lang="en-GB">
              <a:latin typeface="Aptos" panose="020B0004020202020204" pitchFamily="34" charset="0"/>
            </a:rPr>
            <a:t>: Qualtrics (for data collection)</a:t>
          </a:r>
          <a:endParaRPr lang="en-US">
            <a:latin typeface="Aptos" panose="020B0004020202020204" pitchFamily="34" charset="0"/>
          </a:endParaRPr>
        </a:p>
      </dgm:t>
    </dgm:pt>
    <dgm:pt modelId="{A8336303-3E25-4158-9855-E101D14F1D6A}" type="parTrans" cxnId="{DBCA735D-8678-4416-9AAE-59EAED376B06}">
      <dgm:prSet/>
      <dgm:spPr/>
      <dgm:t>
        <a:bodyPr/>
        <a:lstStyle/>
        <a:p>
          <a:endParaRPr lang="en-US"/>
        </a:p>
      </dgm:t>
    </dgm:pt>
    <dgm:pt modelId="{83DDA4B8-E153-45E3-9AE3-0098D4DDEF10}" type="sibTrans" cxnId="{DBCA735D-8678-4416-9AAE-59EAED376B06}">
      <dgm:prSet/>
      <dgm:spPr/>
      <dgm:t>
        <a:bodyPr/>
        <a:lstStyle/>
        <a:p>
          <a:endParaRPr lang="en-US"/>
        </a:p>
      </dgm:t>
    </dgm:pt>
    <dgm:pt modelId="{312A930E-8603-4478-83C0-543B25DCA5AF}" type="pres">
      <dgm:prSet presAssocID="{C15A69B5-9B4F-46BC-881A-BAB6006B2FA4}" presName="root" presStyleCnt="0">
        <dgm:presLayoutVars>
          <dgm:dir/>
          <dgm:resizeHandles val="exact"/>
        </dgm:presLayoutVars>
      </dgm:prSet>
      <dgm:spPr/>
    </dgm:pt>
    <dgm:pt modelId="{5FCA48FB-F60D-4A0B-909F-DC624EF020FD}" type="pres">
      <dgm:prSet presAssocID="{388E9D73-8DFA-496E-9F6F-02F1C0988042}" presName="compNode" presStyleCnt="0"/>
      <dgm:spPr/>
    </dgm:pt>
    <dgm:pt modelId="{E8D13DF9-2F5D-4B14-AF56-9CFEF707E555}" type="pres">
      <dgm:prSet presAssocID="{388E9D73-8DFA-496E-9F6F-02F1C098804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4A050026-8C0F-4B24-B2F7-7BAF6D312098}" type="pres">
      <dgm:prSet presAssocID="{388E9D73-8DFA-496E-9F6F-02F1C0988042}" presName="iconSpace" presStyleCnt="0"/>
      <dgm:spPr/>
    </dgm:pt>
    <dgm:pt modelId="{4E601024-C614-4FBF-B4DD-007BCB291FC4}" type="pres">
      <dgm:prSet presAssocID="{388E9D73-8DFA-496E-9F6F-02F1C0988042}" presName="parTx" presStyleLbl="revTx" presStyleIdx="0" presStyleCnt="10">
        <dgm:presLayoutVars>
          <dgm:chMax val="0"/>
          <dgm:chPref val="0"/>
        </dgm:presLayoutVars>
      </dgm:prSet>
      <dgm:spPr/>
    </dgm:pt>
    <dgm:pt modelId="{B64F3819-37C6-4491-83F3-74007379BF6D}" type="pres">
      <dgm:prSet presAssocID="{388E9D73-8DFA-496E-9F6F-02F1C0988042}" presName="txSpace" presStyleCnt="0"/>
      <dgm:spPr/>
    </dgm:pt>
    <dgm:pt modelId="{77B2B4AA-671F-44C6-AB08-983948B99AFD}" type="pres">
      <dgm:prSet presAssocID="{388E9D73-8DFA-496E-9F6F-02F1C0988042}" presName="desTx" presStyleLbl="revTx" presStyleIdx="1" presStyleCnt="10">
        <dgm:presLayoutVars/>
      </dgm:prSet>
      <dgm:spPr/>
    </dgm:pt>
    <dgm:pt modelId="{B583C5D4-E588-4E67-8E61-CB4AC2E5C7EB}" type="pres">
      <dgm:prSet presAssocID="{2B4BDCF6-7563-4FEA-8193-3412A38FE560}" presName="sibTrans" presStyleCnt="0"/>
      <dgm:spPr/>
    </dgm:pt>
    <dgm:pt modelId="{CC1FD853-B9E0-41DB-9655-04144F251AD6}" type="pres">
      <dgm:prSet presAssocID="{B5A56550-7491-47F3-B6F6-B3487F3DD73B}" presName="compNode" presStyleCnt="0"/>
      <dgm:spPr/>
    </dgm:pt>
    <dgm:pt modelId="{0B535A8A-6AC0-41BF-9890-D7F8C5992B6A}" type="pres">
      <dgm:prSet presAssocID="{B5A56550-7491-47F3-B6F6-B3487F3DD73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B6BF2D6D-6CA8-4155-8D24-77EACF0C0159}" type="pres">
      <dgm:prSet presAssocID="{B5A56550-7491-47F3-B6F6-B3487F3DD73B}" presName="iconSpace" presStyleCnt="0"/>
      <dgm:spPr/>
    </dgm:pt>
    <dgm:pt modelId="{768C20A1-50A9-435B-A243-F6C4DC6972A2}" type="pres">
      <dgm:prSet presAssocID="{B5A56550-7491-47F3-B6F6-B3487F3DD73B}" presName="parTx" presStyleLbl="revTx" presStyleIdx="2" presStyleCnt="10">
        <dgm:presLayoutVars>
          <dgm:chMax val="0"/>
          <dgm:chPref val="0"/>
        </dgm:presLayoutVars>
      </dgm:prSet>
      <dgm:spPr/>
    </dgm:pt>
    <dgm:pt modelId="{8B5525F3-923B-464F-8A88-8FF52D54CE40}" type="pres">
      <dgm:prSet presAssocID="{B5A56550-7491-47F3-B6F6-B3487F3DD73B}" presName="txSpace" presStyleCnt="0"/>
      <dgm:spPr/>
    </dgm:pt>
    <dgm:pt modelId="{4F2EE435-45F3-488A-AABB-EBB0A81ACE98}" type="pres">
      <dgm:prSet presAssocID="{B5A56550-7491-47F3-B6F6-B3487F3DD73B}" presName="desTx" presStyleLbl="revTx" presStyleIdx="3" presStyleCnt="10">
        <dgm:presLayoutVars/>
      </dgm:prSet>
      <dgm:spPr/>
    </dgm:pt>
    <dgm:pt modelId="{235237BF-F8D6-4882-9313-D14E1ECF3DEC}" type="pres">
      <dgm:prSet presAssocID="{040FE021-C4D9-4B83-9C86-A1325C9DA253}" presName="sibTrans" presStyleCnt="0"/>
      <dgm:spPr/>
    </dgm:pt>
    <dgm:pt modelId="{EC2BAB7C-3C26-4AEB-AEC5-545B8A41F131}" type="pres">
      <dgm:prSet presAssocID="{1177FC8B-ACAF-4A62-B9FB-7974856A783B}" presName="compNode" presStyleCnt="0"/>
      <dgm:spPr/>
    </dgm:pt>
    <dgm:pt modelId="{8EA1CA91-8589-4B37-8A3A-7745F6462469}" type="pres">
      <dgm:prSet presAssocID="{1177FC8B-ACAF-4A62-B9FB-7974856A783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prechaun Hat"/>
        </a:ext>
      </dgm:extLst>
    </dgm:pt>
    <dgm:pt modelId="{4D71BF7B-7698-41B6-AE44-358955B141FE}" type="pres">
      <dgm:prSet presAssocID="{1177FC8B-ACAF-4A62-B9FB-7974856A783B}" presName="iconSpace" presStyleCnt="0"/>
      <dgm:spPr/>
    </dgm:pt>
    <dgm:pt modelId="{3B9AC157-3925-43E0-84F2-EEEB34C44D0C}" type="pres">
      <dgm:prSet presAssocID="{1177FC8B-ACAF-4A62-B9FB-7974856A783B}" presName="parTx" presStyleLbl="revTx" presStyleIdx="4" presStyleCnt="10">
        <dgm:presLayoutVars>
          <dgm:chMax val="0"/>
          <dgm:chPref val="0"/>
        </dgm:presLayoutVars>
      </dgm:prSet>
      <dgm:spPr/>
    </dgm:pt>
    <dgm:pt modelId="{FCD51B65-F479-4BCD-919F-A1D9B6885E4F}" type="pres">
      <dgm:prSet presAssocID="{1177FC8B-ACAF-4A62-B9FB-7974856A783B}" presName="txSpace" presStyleCnt="0"/>
      <dgm:spPr/>
    </dgm:pt>
    <dgm:pt modelId="{F2973024-0D4B-468E-A379-0379808BD699}" type="pres">
      <dgm:prSet presAssocID="{1177FC8B-ACAF-4A62-B9FB-7974856A783B}" presName="desTx" presStyleLbl="revTx" presStyleIdx="5" presStyleCnt="10">
        <dgm:presLayoutVars/>
      </dgm:prSet>
      <dgm:spPr/>
    </dgm:pt>
    <dgm:pt modelId="{FA1A6073-1945-4A51-AB60-B1EF184E7EF1}" type="pres">
      <dgm:prSet presAssocID="{5DD401A1-1416-484C-B4BC-6A5284882269}" presName="sibTrans" presStyleCnt="0"/>
      <dgm:spPr/>
    </dgm:pt>
    <dgm:pt modelId="{359EF951-3EFD-4F9F-A1FF-EE6A0070AA1F}" type="pres">
      <dgm:prSet presAssocID="{E7B27140-5354-4668-8322-7CA61286726D}" presName="compNode" presStyleCnt="0"/>
      <dgm:spPr/>
    </dgm:pt>
    <dgm:pt modelId="{149A13E9-2CDA-4738-8C7E-1548D746298C}" type="pres">
      <dgm:prSet presAssocID="{E7B27140-5354-4668-8322-7CA61286726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B978E28-CEDA-4048-B8E5-C12301A119FE}" type="pres">
      <dgm:prSet presAssocID="{E7B27140-5354-4668-8322-7CA61286726D}" presName="iconSpace" presStyleCnt="0"/>
      <dgm:spPr/>
    </dgm:pt>
    <dgm:pt modelId="{56FB5FEE-84D8-4584-B0CF-9901D337E3C4}" type="pres">
      <dgm:prSet presAssocID="{E7B27140-5354-4668-8322-7CA61286726D}" presName="parTx" presStyleLbl="revTx" presStyleIdx="6" presStyleCnt="10">
        <dgm:presLayoutVars>
          <dgm:chMax val="0"/>
          <dgm:chPref val="0"/>
        </dgm:presLayoutVars>
      </dgm:prSet>
      <dgm:spPr/>
    </dgm:pt>
    <dgm:pt modelId="{79D562BA-FE08-4F66-A18D-20D8908E8986}" type="pres">
      <dgm:prSet presAssocID="{E7B27140-5354-4668-8322-7CA61286726D}" presName="txSpace" presStyleCnt="0"/>
      <dgm:spPr/>
    </dgm:pt>
    <dgm:pt modelId="{B66DA998-C1FF-4CFF-BC2C-886324D9E81F}" type="pres">
      <dgm:prSet presAssocID="{E7B27140-5354-4668-8322-7CA61286726D}" presName="desTx" presStyleLbl="revTx" presStyleIdx="7" presStyleCnt="10">
        <dgm:presLayoutVars/>
      </dgm:prSet>
      <dgm:spPr/>
    </dgm:pt>
    <dgm:pt modelId="{6C0BA833-0CE0-438F-990A-F9590EB11458}" type="pres">
      <dgm:prSet presAssocID="{8D69D91B-549F-4412-B0F2-D0E55C7690C1}" presName="sibTrans" presStyleCnt="0"/>
      <dgm:spPr/>
    </dgm:pt>
    <dgm:pt modelId="{CF26ACE7-40D1-4417-96F7-67B12E56576D}" type="pres">
      <dgm:prSet presAssocID="{FE115D16-143C-4F72-981B-0C152FECBFD2}" presName="compNode" presStyleCnt="0"/>
      <dgm:spPr/>
    </dgm:pt>
    <dgm:pt modelId="{6846BF1B-3B1C-417F-900F-9924A1E75C8B}" type="pres">
      <dgm:prSet presAssocID="{FE115D16-143C-4F72-981B-0C152FECBFD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D0817F8-1CF4-4A2C-A1DE-DF501F9A85A1}" type="pres">
      <dgm:prSet presAssocID="{FE115D16-143C-4F72-981B-0C152FECBFD2}" presName="iconSpace" presStyleCnt="0"/>
      <dgm:spPr/>
    </dgm:pt>
    <dgm:pt modelId="{BFAC8C0C-1E48-451C-B795-BE79C76658D5}" type="pres">
      <dgm:prSet presAssocID="{FE115D16-143C-4F72-981B-0C152FECBFD2}" presName="parTx" presStyleLbl="revTx" presStyleIdx="8" presStyleCnt="10">
        <dgm:presLayoutVars>
          <dgm:chMax val="0"/>
          <dgm:chPref val="0"/>
        </dgm:presLayoutVars>
      </dgm:prSet>
      <dgm:spPr/>
    </dgm:pt>
    <dgm:pt modelId="{A13727AF-C97C-4AA9-A430-78EB0A1FF1DA}" type="pres">
      <dgm:prSet presAssocID="{FE115D16-143C-4F72-981B-0C152FECBFD2}" presName="txSpace" presStyleCnt="0"/>
      <dgm:spPr/>
    </dgm:pt>
    <dgm:pt modelId="{74E879F5-0126-4D57-A7B7-5D8929140AA1}" type="pres">
      <dgm:prSet presAssocID="{FE115D16-143C-4F72-981B-0C152FECBFD2}" presName="desTx" presStyleLbl="revTx" presStyleIdx="9" presStyleCnt="10">
        <dgm:presLayoutVars/>
      </dgm:prSet>
      <dgm:spPr/>
    </dgm:pt>
  </dgm:ptLst>
  <dgm:cxnLst>
    <dgm:cxn modelId="{548D2814-CFD2-4EB3-B88B-7D76E229CA08}" type="presOf" srcId="{388E9D73-8DFA-496E-9F6F-02F1C0988042}" destId="{4E601024-C614-4FBF-B4DD-007BCB291FC4}" srcOrd="0" destOrd="0" presId="urn:microsoft.com/office/officeart/2018/2/layout/IconLabelDescriptionList"/>
    <dgm:cxn modelId="{8952C817-7E2B-4DF4-B8D7-B01B8048BF69}" type="presOf" srcId="{FE115D16-143C-4F72-981B-0C152FECBFD2}" destId="{BFAC8C0C-1E48-451C-B795-BE79C76658D5}" srcOrd="0" destOrd="0" presId="urn:microsoft.com/office/officeart/2018/2/layout/IconLabelDescriptionList"/>
    <dgm:cxn modelId="{3BB48925-D533-4033-B20D-4F24D0914F4D}" type="presOf" srcId="{B5A56550-7491-47F3-B6F6-B3487F3DD73B}" destId="{768C20A1-50A9-435B-A243-F6C4DC6972A2}" srcOrd="0" destOrd="0" presId="urn:microsoft.com/office/officeart/2018/2/layout/IconLabelDescriptionList"/>
    <dgm:cxn modelId="{5468215C-4892-4F2C-B953-4F39F7E751ED}" type="presOf" srcId="{E7B27140-5354-4668-8322-7CA61286726D}" destId="{56FB5FEE-84D8-4584-B0CF-9901D337E3C4}" srcOrd="0" destOrd="0" presId="urn:microsoft.com/office/officeart/2018/2/layout/IconLabelDescriptionList"/>
    <dgm:cxn modelId="{DBCA735D-8678-4416-9AAE-59EAED376B06}" srcId="{C15A69B5-9B4F-46BC-881A-BAB6006B2FA4}" destId="{FE115D16-143C-4F72-981B-0C152FECBFD2}" srcOrd="4" destOrd="0" parTransId="{A8336303-3E25-4158-9855-E101D14F1D6A}" sibTransId="{83DDA4B8-E153-45E3-9AE3-0098D4DDEF10}"/>
    <dgm:cxn modelId="{A944A747-2056-401D-B42B-729C1C8EF898}" type="presOf" srcId="{E4083EB7-5B7D-4894-833F-04C208EAC81C}" destId="{F2973024-0D4B-468E-A379-0379808BD699}" srcOrd="0" destOrd="1" presId="urn:microsoft.com/office/officeart/2018/2/layout/IconLabelDescriptionList"/>
    <dgm:cxn modelId="{F3667588-1DD6-4F1B-AB77-48710648137F}" srcId="{C15A69B5-9B4F-46BC-881A-BAB6006B2FA4}" destId="{B5A56550-7491-47F3-B6F6-B3487F3DD73B}" srcOrd="1" destOrd="0" parTransId="{C3BFCE79-63CC-4822-803F-149181167AC7}" sibTransId="{040FE021-C4D9-4B83-9C86-A1325C9DA253}"/>
    <dgm:cxn modelId="{97C6E78E-2B51-4F67-9EF3-7308FEC49272}" srcId="{C15A69B5-9B4F-46BC-881A-BAB6006B2FA4}" destId="{E7B27140-5354-4668-8322-7CA61286726D}" srcOrd="3" destOrd="0" parTransId="{587EA2CC-BB41-456E-8BB9-AA6CA24420D2}" sibTransId="{8D69D91B-549F-4412-B0F2-D0E55C7690C1}"/>
    <dgm:cxn modelId="{E4D52C94-3C7E-4477-8D67-967A98D54FC7}" type="presOf" srcId="{C15A69B5-9B4F-46BC-881A-BAB6006B2FA4}" destId="{312A930E-8603-4478-83C0-543B25DCA5AF}" srcOrd="0" destOrd="0" presId="urn:microsoft.com/office/officeart/2018/2/layout/IconLabelDescriptionList"/>
    <dgm:cxn modelId="{620A5C9D-CC2B-447C-8485-35BD4E055054}" srcId="{1177FC8B-ACAF-4A62-B9FB-7974856A783B}" destId="{764DD8A7-29A9-40D7-AEA0-24473A7F4A54}" srcOrd="3" destOrd="0" parTransId="{6DECCE10-D2AF-4AFE-86C1-AF0BD6FAD6C9}" sibTransId="{1C8149B7-6739-4B45-944B-8F9ECD70FF7C}"/>
    <dgm:cxn modelId="{BA9CFFA1-7FDE-40C0-A18B-D9825D98D0C3}" srcId="{1177FC8B-ACAF-4A62-B9FB-7974856A783B}" destId="{E4083EB7-5B7D-4894-833F-04C208EAC81C}" srcOrd="1" destOrd="0" parTransId="{1443D3D0-5DCD-4419-B792-ED18DE99F11F}" sibTransId="{DC0B3C7C-CBE9-41A5-A263-5FB227AE7914}"/>
    <dgm:cxn modelId="{961BB8A4-F7A2-46D1-89A9-0C53040F9A2E}" type="presOf" srcId="{1177FC8B-ACAF-4A62-B9FB-7974856A783B}" destId="{3B9AC157-3925-43E0-84F2-EEEB34C44D0C}" srcOrd="0" destOrd="0" presId="urn:microsoft.com/office/officeart/2018/2/layout/IconLabelDescriptionList"/>
    <dgm:cxn modelId="{76BC3AA8-19B3-4971-8FBA-EAB753CAAE3C}" srcId="{C15A69B5-9B4F-46BC-881A-BAB6006B2FA4}" destId="{388E9D73-8DFA-496E-9F6F-02F1C0988042}" srcOrd="0" destOrd="0" parTransId="{C6813E65-0E99-4893-A836-B06BC5716CC3}" sibTransId="{2B4BDCF6-7563-4FEA-8193-3412A38FE560}"/>
    <dgm:cxn modelId="{D32FF8BE-4B50-4952-B38C-B0C969D85764}" type="presOf" srcId="{CC6258B3-A578-4DD5-BF21-A9D17CEE485A}" destId="{F2973024-0D4B-468E-A379-0379808BD699}" srcOrd="0" destOrd="2" presId="urn:microsoft.com/office/officeart/2018/2/layout/IconLabelDescriptionList"/>
    <dgm:cxn modelId="{8CC6DBC7-7350-4F54-8A89-A6CBD56267ED}" type="presOf" srcId="{764DD8A7-29A9-40D7-AEA0-24473A7F4A54}" destId="{F2973024-0D4B-468E-A379-0379808BD699}" srcOrd="0" destOrd="3" presId="urn:microsoft.com/office/officeart/2018/2/layout/IconLabelDescriptionList"/>
    <dgm:cxn modelId="{B0EB93D0-6DE3-4B20-820B-B4CB0E38B0E4}" srcId="{1177FC8B-ACAF-4A62-B9FB-7974856A783B}" destId="{CC6258B3-A578-4DD5-BF21-A9D17CEE485A}" srcOrd="2" destOrd="0" parTransId="{AC1E92E9-5B0D-405B-BAB9-4F7B1A1CDE76}" sibTransId="{03381B8C-A9C8-4A78-BC65-8DB0846BD6DD}"/>
    <dgm:cxn modelId="{DBBDFBD3-DF9B-4CFE-A690-FB417ADE5956}" srcId="{C15A69B5-9B4F-46BC-881A-BAB6006B2FA4}" destId="{1177FC8B-ACAF-4A62-B9FB-7974856A783B}" srcOrd="2" destOrd="0" parTransId="{19E4AB1C-F7C6-416A-B1FE-F6F9404B3B7E}" sibTransId="{5DD401A1-1416-484C-B4BC-6A5284882269}"/>
    <dgm:cxn modelId="{33FC21DE-6263-4F0B-B0A6-504DFC925C8B}" srcId="{1177FC8B-ACAF-4A62-B9FB-7974856A783B}" destId="{DC25AD47-ADA0-449E-8EB8-BCE86798A092}" srcOrd="0" destOrd="0" parTransId="{65B2E515-242F-49AC-8471-1C827C89EEC9}" sibTransId="{A1817D86-9E7C-4F9D-8555-BF476E86052B}"/>
    <dgm:cxn modelId="{BA10ABFD-3E96-4DBF-9A4D-9AAC0128689E}" type="presOf" srcId="{DC25AD47-ADA0-449E-8EB8-BCE86798A092}" destId="{F2973024-0D4B-468E-A379-0379808BD699}" srcOrd="0" destOrd="0" presId="urn:microsoft.com/office/officeart/2018/2/layout/IconLabelDescriptionList"/>
    <dgm:cxn modelId="{5B94FCCA-AD8D-4BDC-835F-00368565CC57}" type="presParOf" srcId="{312A930E-8603-4478-83C0-543B25DCA5AF}" destId="{5FCA48FB-F60D-4A0B-909F-DC624EF020FD}" srcOrd="0" destOrd="0" presId="urn:microsoft.com/office/officeart/2018/2/layout/IconLabelDescriptionList"/>
    <dgm:cxn modelId="{C4DC28D3-AC45-4CC5-AC78-2452194BE49D}" type="presParOf" srcId="{5FCA48FB-F60D-4A0B-909F-DC624EF020FD}" destId="{E8D13DF9-2F5D-4B14-AF56-9CFEF707E555}" srcOrd="0" destOrd="0" presId="urn:microsoft.com/office/officeart/2018/2/layout/IconLabelDescriptionList"/>
    <dgm:cxn modelId="{0D008024-3151-4553-9A88-5744D060587C}" type="presParOf" srcId="{5FCA48FB-F60D-4A0B-909F-DC624EF020FD}" destId="{4A050026-8C0F-4B24-B2F7-7BAF6D312098}" srcOrd="1" destOrd="0" presId="urn:microsoft.com/office/officeart/2018/2/layout/IconLabelDescriptionList"/>
    <dgm:cxn modelId="{D9DF78C9-20B1-4030-8B55-E08DE2A03719}" type="presParOf" srcId="{5FCA48FB-F60D-4A0B-909F-DC624EF020FD}" destId="{4E601024-C614-4FBF-B4DD-007BCB291FC4}" srcOrd="2" destOrd="0" presId="urn:microsoft.com/office/officeart/2018/2/layout/IconLabelDescriptionList"/>
    <dgm:cxn modelId="{8EF9E409-E0EE-4A86-BF3B-9BD6673E63C3}" type="presParOf" srcId="{5FCA48FB-F60D-4A0B-909F-DC624EF020FD}" destId="{B64F3819-37C6-4491-83F3-74007379BF6D}" srcOrd="3" destOrd="0" presId="urn:microsoft.com/office/officeart/2018/2/layout/IconLabelDescriptionList"/>
    <dgm:cxn modelId="{61629F55-0F9E-4FE1-AC37-FAD5231E391A}" type="presParOf" srcId="{5FCA48FB-F60D-4A0B-909F-DC624EF020FD}" destId="{77B2B4AA-671F-44C6-AB08-983948B99AFD}" srcOrd="4" destOrd="0" presId="urn:microsoft.com/office/officeart/2018/2/layout/IconLabelDescriptionList"/>
    <dgm:cxn modelId="{0EEFD761-800B-46F3-9D15-BB5D66DE048B}" type="presParOf" srcId="{312A930E-8603-4478-83C0-543B25DCA5AF}" destId="{B583C5D4-E588-4E67-8E61-CB4AC2E5C7EB}" srcOrd="1" destOrd="0" presId="urn:microsoft.com/office/officeart/2018/2/layout/IconLabelDescriptionList"/>
    <dgm:cxn modelId="{858B56C9-B3BA-4FDB-93BB-854FD6E855D7}" type="presParOf" srcId="{312A930E-8603-4478-83C0-543B25DCA5AF}" destId="{CC1FD853-B9E0-41DB-9655-04144F251AD6}" srcOrd="2" destOrd="0" presId="urn:microsoft.com/office/officeart/2018/2/layout/IconLabelDescriptionList"/>
    <dgm:cxn modelId="{E2561533-8F1E-445B-A6D6-392A5676811F}" type="presParOf" srcId="{CC1FD853-B9E0-41DB-9655-04144F251AD6}" destId="{0B535A8A-6AC0-41BF-9890-D7F8C5992B6A}" srcOrd="0" destOrd="0" presId="urn:microsoft.com/office/officeart/2018/2/layout/IconLabelDescriptionList"/>
    <dgm:cxn modelId="{B2BFA932-A37A-4CC8-9EE4-D0160D60921F}" type="presParOf" srcId="{CC1FD853-B9E0-41DB-9655-04144F251AD6}" destId="{B6BF2D6D-6CA8-4155-8D24-77EACF0C0159}" srcOrd="1" destOrd="0" presId="urn:microsoft.com/office/officeart/2018/2/layout/IconLabelDescriptionList"/>
    <dgm:cxn modelId="{DB3E83CB-4147-472E-A26E-79F895804D8D}" type="presParOf" srcId="{CC1FD853-B9E0-41DB-9655-04144F251AD6}" destId="{768C20A1-50A9-435B-A243-F6C4DC6972A2}" srcOrd="2" destOrd="0" presId="urn:microsoft.com/office/officeart/2018/2/layout/IconLabelDescriptionList"/>
    <dgm:cxn modelId="{2AFB7ACE-A2F3-4A4F-96DF-2345B4AB6C42}" type="presParOf" srcId="{CC1FD853-B9E0-41DB-9655-04144F251AD6}" destId="{8B5525F3-923B-464F-8A88-8FF52D54CE40}" srcOrd="3" destOrd="0" presId="urn:microsoft.com/office/officeart/2018/2/layout/IconLabelDescriptionList"/>
    <dgm:cxn modelId="{8941C7EA-B363-4C95-808D-14B7BAB19CC4}" type="presParOf" srcId="{CC1FD853-B9E0-41DB-9655-04144F251AD6}" destId="{4F2EE435-45F3-488A-AABB-EBB0A81ACE98}" srcOrd="4" destOrd="0" presId="urn:microsoft.com/office/officeart/2018/2/layout/IconLabelDescriptionList"/>
    <dgm:cxn modelId="{AE404076-EB84-43C5-A049-55415452ED8B}" type="presParOf" srcId="{312A930E-8603-4478-83C0-543B25DCA5AF}" destId="{235237BF-F8D6-4882-9313-D14E1ECF3DEC}" srcOrd="3" destOrd="0" presId="urn:microsoft.com/office/officeart/2018/2/layout/IconLabelDescriptionList"/>
    <dgm:cxn modelId="{807C17C7-6382-47C3-B6D5-2BE7C0A601D0}" type="presParOf" srcId="{312A930E-8603-4478-83C0-543B25DCA5AF}" destId="{EC2BAB7C-3C26-4AEB-AEC5-545B8A41F131}" srcOrd="4" destOrd="0" presId="urn:microsoft.com/office/officeart/2018/2/layout/IconLabelDescriptionList"/>
    <dgm:cxn modelId="{EDF65DCB-145B-4B0A-8AC1-515199FFE91B}" type="presParOf" srcId="{EC2BAB7C-3C26-4AEB-AEC5-545B8A41F131}" destId="{8EA1CA91-8589-4B37-8A3A-7745F6462469}" srcOrd="0" destOrd="0" presId="urn:microsoft.com/office/officeart/2018/2/layout/IconLabelDescriptionList"/>
    <dgm:cxn modelId="{86005413-C73C-4674-828F-B53E1A86A6C5}" type="presParOf" srcId="{EC2BAB7C-3C26-4AEB-AEC5-545B8A41F131}" destId="{4D71BF7B-7698-41B6-AE44-358955B141FE}" srcOrd="1" destOrd="0" presId="urn:microsoft.com/office/officeart/2018/2/layout/IconLabelDescriptionList"/>
    <dgm:cxn modelId="{2F04C4AD-FC04-41C6-A8D8-15F7149BA9BE}" type="presParOf" srcId="{EC2BAB7C-3C26-4AEB-AEC5-545B8A41F131}" destId="{3B9AC157-3925-43E0-84F2-EEEB34C44D0C}" srcOrd="2" destOrd="0" presId="urn:microsoft.com/office/officeart/2018/2/layout/IconLabelDescriptionList"/>
    <dgm:cxn modelId="{D55E75E5-9398-4B7D-9B87-353FB24DA621}" type="presParOf" srcId="{EC2BAB7C-3C26-4AEB-AEC5-545B8A41F131}" destId="{FCD51B65-F479-4BCD-919F-A1D9B6885E4F}" srcOrd="3" destOrd="0" presId="urn:microsoft.com/office/officeart/2018/2/layout/IconLabelDescriptionList"/>
    <dgm:cxn modelId="{7A673046-03FC-412C-9B86-5C9A944F973E}" type="presParOf" srcId="{EC2BAB7C-3C26-4AEB-AEC5-545B8A41F131}" destId="{F2973024-0D4B-468E-A379-0379808BD699}" srcOrd="4" destOrd="0" presId="urn:microsoft.com/office/officeart/2018/2/layout/IconLabelDescriptionList"/>
    <dgm:cxn modelId="{6CBFA999-E6B3-4FF7-AF4C-13496FBF088C}" type="presParOf" srcId="{312A930E-8603-4478-83C0-543B25DCA5AF}" destId="{FA1A6073-1945-4A51-AB60-B1EF184E7EF1}" srcOrd="5" destOrd="0" presId="urn:microsoft.com/office/officeart/2018/2/layout/IconLabelDescriptionList"/>
    <dgm:cxn modelId="{E80DA5DF-6BF7-4485-A388-140BBCCA3B6D}" type="presParOf" srcId="{312A930E-8603-4478-83C0-543B25DCA5AF}" destId="{359EF951-3EFD-4F9F-A1FF-EE6A0070AA1F}" srcOrd="6" destOrd="0" presId="urn:microsoft.com/office/officeart/2018/2/layout/IconLabelDescriptionList"/>
    <dgm:cxn modelId="{067E41C2-0C7B-4470-87E7-11B15813C139}" type="presParOf" srcId="{359EF951-3EFD-4F9F-A1FF-EE6A0070AA1F}" destId="{149A13E9-2CDA-4738-8C7E-1548D746298C}" srcOrd="0" destOrd="0" presId="urn:microsoft.com/office/officeart/2018/2/layout/IconLabelDescriptionList"/>
    <dgm:cxn modelId="{3009DA23-DA5E-4959-BBBF-DD985CECB8DF}" type="presParOf" srcId="{359EF951-3EFD-4F9F-A1FF-EE6A0070AA1F}" destId="{2B978E28-CEDA-4048-B8E5-C12301A119FE}" srcOrd="1" destOrd="0" presId="urn:microsoft.com/office/officeart/2018/2/layout/IconLabelDescriptionList"/>
    <dgm:cxn modelId="{3BE4A54F-57B0-4F53-A21A-5B77335684FD}" type="presParOf" srcId="{359EF951-3EFD-4F9F-A1FF-EE6A0070AA1F}" destId="{56FB5FEE-84D8-4584-B0CF-9901D337E3C4}" srcOrd="2" destOrd="0" presId="urn:microsoft.com/office/officeart/2018/2/layout/IconLabelDescriptionList"/>
    <dgm:cxn modelId="{3A575A2E-1B71-4344-BAAC-F885B9043DCE}" type="presParOf" srcId="{359EF951-3EFD-4F9F-A1FF-EE6A0070AA1F}" destId="{79D562BA-FE08-4F66-A18D-20D8908E8986}" srcOrd="3" destOrd="0" presId="urn:microsoft.com/office/officeart/2018/2/layout/IconLabelDescriptionList"/>
    <dgm:cxn modelId="{272CA11F-0F0C-4349-9258-F569D9AEF68C}" type="presParOf" srcId="{359EF951-3EFD-4F9F-A1FF-EE6A0070AA1F}" destId="{B66DA998-C1FF-4CFF-BC2C-886324D9E81F}" srcOrd="4" destOrd="0" presId="urn:microsoft.com/office/officeart/2018/2/layout/IconLabelDescriptionList"/>
    <dgm:cxn modelId="{8FB73559-5998-4FE5-997A-FCA80B3AE4F0}" type="presParOf" srcId="{312A930E-8603-4478-83C0-543B25DCA5AF}" destId="{6C0BA833-0CE0-438F-990A-F9590EB11458}" srcOrd="7" destOrd="0" presId="urn:microsoft.com/office/officeart/2018/2/layout/IconLabelDescriptionList"/>
    <dgm:cxn modelId="{0C2F5A2D-2E86-40E1-B651-290FCB8B78EF}" type="presParOf" srcId="{312A930E-8603-4478-83C0-543B25DCA5AF}" destId="{CF26ACE7-40D1-4417-96F7-67B12E56576D}" srcOrd="8" destOrd="0" presId="urn:microsoft.com/office/officeart/2018/2/layout/IconLabelDescriptionList"/>
    <dgm:cxn modelId="{E15B8E4E-FDFB-4444-9314-E2B5B2E85E0E}" type="presParOf" srcId="{CF26ACE7-40D1-4417-96F7-67B12E56576D}" destId="{6846BF1B-3B1C-417F-900F-9924A1E75C8B}" srcOrd="0" destOrd="0" presId="urn:microsoft.com/office/officeart/2018/2/layout/IconLabelDescriptionList"/>
    <dgm:cxn modelId="{6FC44789-C86F-477B-9AD8-281F7717A250}" type="presParOf" srcId="{CF26ACE7-40D1-4417-96F7-67B12E56576D}" destId="{DD0817F8-1CF4-4A2C-A1DE-DF501F9A85A1}" srcOrd="1" destOrd="0" presId="urn:microsoft.com/office/officeart/2018/2/layout/IconLabelDescriptionList"/>
    <dgm:cxn modelId="{A8EB44BB-5C9B-4988-BF22-389ECC5603B5}" type="presParOf" srcId="{CF26ACE7-40D1-4417-96F7-67B12E56576D}" destId="{BFAC8C0C-1E48-451C-B795-BE79C76658D5}" srcOrd="2" destOrd="0" presId="urn:microsoft.com/office/officeart/2018/2/layout/IconLabelDescriptionList"/>
    <dgm:cxn modelId="{55E666CE-E1AB-4CBD-83EE-9CE0807F3435}" type="presParOf" srcId="{CF26ACE7-40D1-4417-96F7-67B12E56576D}" destId="{A13727AF-C97C-4AA9-A430-78EB0A1FF1DA}" srcOrd="3" destOrd="0" presId="urn:microsoft.com/office/officeart/2018/2/layout/IconLabelDescriptionList"/>
    <dgm:cxn modelId="{B60A8F83-EB27-4571-8D87-0917255EFAF1}" type="presParOf" srcId="{CF26ACE7-40D1-4417-96F7-67B12E56576D}" destId="{74E879F5-0126-4D57-A7B7-5D8929140AA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0D3D37-F53F-4D0D-B06D-C7D86149EB7E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D6B3A5-A945-445E-935A-56A4BA67204D}">
      <dgm:prSet/>
      <dgm:spPr/>
      <dgm:t>
        <a:bodyPr/>
        <a:lstStyle/>
        <a:p>
          <a:r>
            <a:rPr lang="en-GB" b="1">
              <a:latin typeface="Aptos" panose="020B0004020202020204" pitchFamily="34" charset="0"/>
            </a:rPr>
            <a:t>Size</a:t>
          </a:r>
          <a:r>
            <a:rPr lang="en-GB">
              <a:latin typeface="Aptos" panose="020B0004020202020204" pitchFamily="34" charset="0"/>
            </a:rPr>
            <a:t>: 40 respondents</a:t>
          </a:r>
          <a:endParaRPr lang="en-US">
            <a:latin typeface="Aptos" panose="020B0004020202020204" pitchFamily="34" charset="0"/>
          </a:endParaRPr>
        </a:p>
      </dgm:t>
    </dgm:pt>
    <dgm:pt modelId="{5C4611FE-629C-4076-90CB-3CF2B5D20AD1}" type="parTrans" cxnId="{9F3F1B1E-6477-44CF-B578-A72293D0D0E3}">
      <dgm:prSet/>
      <dgm:spPr/>
      <dgm:t>
        <a:bodyPr/>
        <a:lstStyle/>
        <a:p>
          <a:endParaRPr lang="en-US"/>
        </a:p>
      </dgm:t>
    </dgm:pt>
    <dgm:pt modelId="{9B054CFA-61C4-4CC1-A577-7A97EFD691A4}" type="sibTrans" cxnId="{9F3F1B1E-6477-44CF-B578-A72293D0D0E3}">
      <dgm:prSet/>
      <dgm:spPr/>
      <dgm:t>
        <a:bodyPr/>
        <a:lstStyle/>
        <a:p>
          <a:endParaRPr lang="en-US"/>
        </a:p>
      </dgm:t>
    </dgm:pt>
    <dgm:pt modelId="{1848B202-FB02-4D9F-B6C2-E5E3B6D42021}">
      <dgm:prSet/>
      <dgm:spPr/>
      <dgm:t>
        <a:bodyPr/>
        <a:lstStyle/>
        <a:p>
          <a:r>
            <a:rPr lang="en-GB" b="1">
              <a:latin typeface="Aptos" panose="020B0004020202020204" pitchFamily="34" charset="0"/>
            </a:rPr>
            <a:t>Demographics</a:t>
          </a:r>
          <a:r>
            <a:rPr lang="en-GB">
              <a:latin typeface="Aptos" panose="020B0004020202020204" pitchFamily="34" charset="0"/>
            </a:rPr>
            <a:t>: Predominantly 18–34 years old; mix of students and young professionals</a:t>
          </a:r>
          <a:endParaRPr lang="en-US">
            <a:latin typeface="Aptos" panose="020B0004020202020204" pitchFamily="34" charset="0"/>
          </a:endParaRPr>
        </a:p>
      </dgm:t>
    </dgm:pt>
    <dgm:pt modelId="{57AEB963-D2C5-416C-A5A9-9A87DC77A3D2}" type="parTrans" cxnId="{77D5668A-3187-478F-B220-C5AD0CE87756}">
      <dgm:prSet/>
      <dgm:spPr/>
      <dgm:t>
        <a:bodyPr/>
        <a:lstStyle/>
        <a:p>
          <a:endParaRPr lang="en-US"/>
        </a:p>
      </dgm:t>
    </dgm:pt>
    <dgm:pt modelId="{C564A519-64A4-4DCC-986B-DA070DC651BA}" type="sibTrans" cxnId="{77D5668A-3187-478F-B220-C5AD0CE87756}">
      <dgm:prSet/>
      <dgm:spPr/>
      <dgm:t>
        <a:bodyPr/>
        <a:lstStyle/>
        <a:p>
          <a:endParaRPr lang="en-US"/>
        </a:p>
      </dgm:t>
    </dgm:pt>
    <dgm:pt modelId="{DEF17551-8E89-44EE-8C8D-AA1D407A3DCF}">
      <dgm:prSet/>
      <dgm:spPr/>
      <dgm:t>
        <a:bodyPr/>
        <a:lstStyle/>
        <a:p>
          <a:r>
            <a:rPr lang="en-GB" b="1">
              <a:latin typeface="Aptos" panose="020B0004020202020204" pitchFamily="34" charset="0"/>
            </a:rPr>
            <a:t>Preferences</a:t>
          </a:r>
          <a:r>
            <a:rPr lang="en-GB">
              <a:latin typeface="Aptos" panose="020B0004020202020204" pitchFamily="34" charset="0"/>
            </a:rPr>
            <a:t>:</a:t>
          </a:r>
          <a:endParaRPr lang="en-US">
            <a:latin typeface="Aptos" panose="020B0004020202020204" pitchFamily="34" charset="0"/>
          </a:endParaRPr>
        </a:p>
      </dgm:t>
    </dgm:pt>
    <dgm:pt modelId="{63CEA453-678A-4412-92AB-5B650BDBF1B3}" type="parTrans" cxnId="{96A2933B-4646-4A80-B9C9-3456877D5405}">
      <dgm:prSet/>
      <dgm:spPr/>
      <dgm:t>
        <a:bodyPr/>
        <a:lstStyle/>
        <a:p>
          <a:endParaRPr lang="en-US"/>
        </a:p>
      </dgm:t>
    </dgm:pt>
    <dgm:pt modelId="{FBC4FC52-6DBD-45BC-8C80-4E2AA56DA51B}" type="sibTrans" cxnId="{96A2933B-4646-4A80-B9C9-3456877D5405}">
      <dgm:prSet/>
      <dgm:spPr/>
      <dgm:t>
        <a:bodyPr/>
        <a:lstStyle/>
        <a:p>
          <a:endParaRPr lang="en-US"/>
        </a:p>
      </dgm:t>
    </dgm:pt>
    <dgm:pt modelId="{22E68CFD-2E14-458A-81DB-B26EF5C1EE40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Strong affinity for </a:t>
          </a:r>
          <a:r>
            <a:rPr lang="en-GB" b="1">
              <a:latin typeface="Aptos" panose="020B0004020202020204" pitchFamily="34" charset="0"/>
            </a:rPr>
            <a:t>Paneer</a:t>
          </a:r>
          <a:r>
            <a:rPr lang="en-GB">
              <a:latin typeface="Aptos" panose="020B0004020202020204" pitchFamily="34" charset="0"/>
            </a:rPr>
            <a:t> and </a:t>
          </a:r>
          <a:r>
            <a:rPr lang="en-GB" b="1">
              <a:latin typeface="Aptos" panose="020B0004020202020204" pitchFamily="34" charset="0"/>
            </a:rPr>
            <a:t>Potato</a:t>
          </a:r>
          <a:r>
            <a:rPr lang="en-GB">
              <a:latin typeface="Aptos" panose="020B0004020202020204" pitchFamily="34" charset="0"/>
            </a:rPr>
            <a:t> patties</a:t>
          </a:r>
          <a:endParaRPr lang="en-US">
            <a:latin typeface="Aptos" panose="020B0004020202020204" pitchFamily="34" charset="0"/>
          </a:endParaRPr>
        </a:p>
      </dgm:t>
    </dgm:pt>
    <dgm:pt modelId="{A1EB8EF2-9926-488B-8999-2500CB64396B}" type="parTrans" cxnId="{44473764-3ED2-4995-949F-7968840A1AB9}">
      <dgm:prSet/>
      <dgm:spPr/>
      <dgm:t>
        <a:bodyPr/>
        <a:lstStyle/>
        <a:p>
          <a:endParaRPr lang="en-US"/>
        </a:p>
      </dgm:t>
    </dgm:pt>
    <dgm:pt modelId="{DE90C16A-3BDD-4CF8-B0A6-63AF4C733199}" type="sibTrans" cxnId="{44473764-3ED2-4995-949F-7968840A1AB9}">
      <dgm:prSet/>
      <dgm:spPr/>
      <dgm:t>
        <a:bodyPr/>
        <a:lstStyle/>
        <a:p>
          <a:endParaRPr lang="en-US"/>
        </a:p>
      </dgm:t>
    </dgm:pt>
    <dgm:pt modelId="{044B5D43-6743-44EA-8AC9-0447116F52B0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Interest in </a:t>
          </a:r>
          <a:r>
            <a:rPr lang="en-GB" b="1">
              <a:latin typeface="Aptos" panose="020B0004020202020204" pitchFamily="34" charset="0"/>
            </a:rPr>
            <a:t>Gluten Free</a:t>
          </a:r>
          <a:r>
            <a:rPr lang="en-GB">
              <a:latin typeface="Aptos" panose="020B0004020202020204" pitchFamily="34" charset="0"/>
            </a:rPr>
            <a:t> and </a:t>
          </a:r>
          <a:r>
            <a:rPr lang="en-GB" b="1">
              <a:latin typeface="Aptos" panose="020B0004020202020204" pitchFamily="34" charset="0"/>
            </a:rPr>
            <a:t>Multigrain</a:t>
          </a:r>
          <a:r>
            <a:rPr lang="en-GB">
              <a:latin typeface="Aptos" panose="020B0004020202020204" pitchFamily="34" charset="0"/>
            </a:rPr>
            <a:t> bread</a:t>
          </a:r>
          <a:endParaRPr lang="en-US">
            <a:latin typeface="Aptos" panose="020B0004020202020204" pitchFamily="34" charset="0"/>
          </a:endParaRPr>
        </a:p>
      </dgm:t>
    </dgm:pt>
    <dgm:pt modelId="{6B5DD0BE-B722-4301-9B16-2EAB03074925}" type="parTrans" cxnId="{EAF16F07-6906-4CE2-AB30-91BEB87F6749}">
      <dgm:prSet/>
      <dgm:spPr/>
      <dgm:t>
        <a:bodyPr/>
        <a:lstStyle/>
        <a:p>
          <a:endParaRPr lang="en-US"/>
        </a:p>
      </dgm:t>
    </dgm:pt>
    <dgm:pt modelId="{9B07C362-8756-42D2-B5E6-F04392A1BDA3}" type="sibTrans" cxnId="{EAF16F07-6906-4CE2-AB30-91BEB87F6749}">
      <dgm:prSet/>
      <dgm:spPr/>
      <dgm:t>
        <a:bodyPr/>
        <a:lstStyle/>
        <a:p>
          <a:endParaRPr lang="en-US"/>
        </a:p>
      </dgm:t>
    </dgm:pt>
    <dgm:pt modelId="{66931BDF-53C9-4ADD-8EF5-24556AA55FD2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Moderate preference for double patty but cost-sensitive</a:t>
          </a:r>
          <a:endParaRPr lang="en-US">
            <a:latin typeface="Aptos" panose="020B0004020202020204" pitchFamily="34" charset="0"/>
          </a:endParaRPr>
        </a:p>
      </dgm:t>
    </dgm:pt>
    <dgm:pt modelId="{2AD598F6-AA17-4DB7-A529-409881598337}" type="parTrans" cxnId="{38DEC911-0BDC-4EAF-9D98-5D49B3F72B9E}">
      <dgm:prSet/>
      <dgm:spPr/>
      <dgm:t>
        <a:bodyPr/>
        <a:lstStyle/>
        <a:p>
          <a:endParaRPr lang="en-US"/>
        </a:p>
      </dgm:t>
    </dgm:pt>
    <dgm:pt modelId="{23BC5A5D-E7D4-4E1E-9ECA-484E312978FE}" type="sibTrans" cxnId="{38DEC911-0BDC-4EAF-9D98-5D49B3F72B9E}">
      <dgm:prSet/>
      <dgm:spPr/>
      <dgm:t>
        <a:bodyPr/>
        <a:lstStyle/>
        <a:p>
          <a:endParaRPr lang="en-US"/>
        </a:p>
      </dgm:t>
    </dgm:pt>
    <dgm:pt modelId="{5A0EC2AD-3D72-4991-AA16-825740F72A94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Price sweet spot: </a:t>
          </a:r>
          <a:r>
            <a:rPr lang="en-GB" b="1">
              <a:latin typeface="Aptos" panose="020B0004020202020204" pitchFamily="34" charset="0"/>
            </a:rPr>
            <a:t>$10–$15</a:t>
          </a:r>
          <a:endParaRPr lang="en-US">
            <a:latin typeface="Aptos" panose="020B0004020202020204" pitchFamily="34" charset="0"/>
          </a:endParaRPr>
        </a:p>
      </dgm:t>
    </dgm:pt>
    <dgm:pt modelId="{4FAEB1F9-0C9B-4CD4-9DF2-B42B2118D633}" type="parTrans" cxnId="{C1DE3906-30D2-41CC-96A4-27FC76D31C40}">
      <dgm:prSet/>
      <dgm:spPr/>
      <dgm:t>
        <a:bodyPr/>
        <a:lstStyle/>
        <a:p>
          <a:endParaRPr lang="en-US"/>
        </a:p>
      </dgm:t>
    </dgm:pt>
    <dgm:pt modelId="{30D5CC31-A827-48E7-901A-B8B550C2FA63}" type="sibTrans" cxnId="{C1DE3906-30D2-41CC-96A4-27FC76D31C40}">
      <dgm:prSet/>
      <dgm:spPr/>
      <dgm:t>
        <a:bodyPr/>
        <a:lstStyle/>
        <a:p>
          <a:endParaRPr lang="en-US"/>
        </a:p>
      </dgm:t>
    </dgm:pt>
    <dgm:pt modelId="{B722374E-499E-43A5-A611-5BCE4492703A}">
      <dgm:prSet/>
      <dgm:spPr/>
      <dgm:t>
        <a:bodyPr/>
        <a:lstStyle/>
        <a:p>
          <a:r>
            <a:rPr lang="en-GB" b="1">
              <a:latin typeface="Aptos" panose="020B0004020202020204" pitchFamily="34" charset="0"/>
            </a:rPr>
            <a:t>Behavioural Traits</a:t>
          </a:r>
          <a:r>
            <a:rPr lang="en-GB">
              <a:latin typeface="Aptos" panose="020B0004020202020204" pitchFamily="34" charset="0"/>
            </a:rPr>
            <a:t>:</a:t>
          </a:r>
          <a:endParaRPr lang="en-US">
            <a:latin typeface="Aptos" panose="020B0004020202020204" pitchFamily="34" charset="0"/>
          </a:endParaRPr>
        </a:p>
      </dgm:t>
    </dgm:pt>
    <dgm:pt modelId="{DF6F880E-A14F-4C5B-A19D-9C7C534104D4}" type="parTrans" cxnId="{9177C51E-C5F3-4C5F-A068-0C1A10EAB920}">
      <dgm:prSet/>
      <dgm:spPr/>
      <dgm:t>
        <a:bodyPr/>
        <a:lstStyle/>
        <a:p>
          <a:endParaRPr lang="en-US"/>
        </a:p>
      </dgm:t>
    </dgm:pt>
    <dgm:pt modelId="{106428F3-61E4-4E07-B20E-7A69A56CA177}" type="sibTrans" cxnId="{9177C51E-C5F3-4C5F-A068-0C1A10EAB920}">
      <dgm:prSet/>
      <dgm:spPr/>
      <dgm:t>
        <a:bodyPr/>
        <a:lstStyle/>
        <a:p>
          <a:endParaRPr lang="en-US"/>
        </a:p>
      </dgm:t>
    </dgm:pt>
    <dgm:pt modelId="{AFAE41F9-EA1A-4F60-BA75-1A56ACAF27DC}">
      <dgm:prSet/>
      <dgm:spPr/>
      <dgm:t>
        <a:bodyPr/>
        <a:lstStyle/>
        <a:p>
          <a:r>
            <a:rPr lang="en-GB" dirty="0">
              <a:latin typeface="Aptos" panose="020B0004020202020204" pitchFamily="34" charset="0"/>
            </a:rPr>
            <a:t>Budget-conscious yet open to variety</a:t>
          </a:r>
          <a:endParaRPr lang="en-US" dirty="0">
            <a:latin typeface="Aptos" panose="020B0004020202020204" pitchFamily="34" charset="0"/>
          </a:endParaRPr>
        </a:p>
      </dgm:t>
    </dgm:pt>
    <dgm:pt modelId="{4BDF841A-80F6-407F-AB2F-75FA66901628}" type="parTrans" cxnId="{F9A3109E-36A9-430D-B173-EFE1E80B7C67}">
      <dgm:prSet/>
      <dgm:spPr/>
      <dgm:t>
        <a:bodyPr/>
        <a:lstStyle/>
        <a:p>
          <a:endParaRPr lang="en-US"/>
        </a:p>
      </dgm:t>
    </dgm:pt>
    <dgm:pt modelId="{EA1491B2-4891-42C5-8182-EEC93E14CA83}" type="sibTrans" cxnId="{F9A3109E-36A9-430D-B173-EFE1E80B7C67}">
      <dgm:prSet/>
      <dgm:spPr/>
      <dgm:t>
        <a:bodyPr/>
        <a:lstStyle/>
        <a:p>
          <a:endParaRPr lang="en-US"/>
        </a:p>
      </dgm:t>
    </dgm:pt>
    <dgm:pt modelId="{286F5123-A2B1-4108-A722-7D9B855077F3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Looks for value meals and deals</a:t>
          </a:r>
          <a:endParaRPr lang="en-US">
            <a:latin typeface="Aptos" panose="020B0004020202020204" pitchFamily="34" charset="0"/>
          </a:endParaRPr>
        </a:p>
      </dgm:t>
    </dgm:pt>
    <dgm:pt modelId="{8F315AC4-F9E4-48DB-B9D2-27CE0759BD9B}" type="parTrans" cxnId="{C540F65F-0130-4F46-A9EF-26DAAA06BB74}">
      <dgm:prSet/>
      <dgm:spPr/>
      <dgm:t>
        <a:bodyPr/>
        <a:lstStyle/>
        <a:p>
          <a:endParaRPr lang="en-US"/>
        </a:p>
      </dgm:t>
    </dgm:pt>
    <dgm:pt modelId="{2B125C01-D944-4AE5-8E79-D948B6528C84}" type="sibTrans" cxnId="{C540F65F-0130-4F46-A9EF-26DAAA06BB74}">
      <dgm:prSet/>
      <dgm:spPr/>
      <dgm:t>
        <a:bodyPr/>
        <a:lstStyle/>
        <a:p>
          <a:endParaRPr lang="en-US"/>
        </a:p>
      </dgm:t>
    </dgm:pt>
    <dgm:pt modelId="{A2EEE5BA-B288-4DBF-A490-72A262352760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Strong brand familiarity with McDonald’s</a:t>
          </a:r>
          <a:endParaRPr lang="en-US">
            <a:latin typeface="Aptos" panose="020B0004020202020204" pitchFamily="34" charset="0"/>
          </a:endParaRPr>
        </a:p>
      </dgm:t>
    </dgm:pt>
    <dgm:pt modelId="{8204831C-A9BF-4E2F-A531-93DF8F0A77AD}" type="parTrans" cxnId="{B19E4EDA-356F-49B9-A32F-564881A5356A}">
      <dgm:prSet/>
      <dgm:spPr/>
      <dgm:t>
        <a:bodyPr/>
        <a:lstStyle/>
        <a:p>
          <a:endParaRPr lang="en-US"/>
        </a:p>
      </dgm:t>
    </dgm:pt>
    <dgm:pt modelId="{52989344-756F-452D-A0F4-25C73F200052}" type="sibTrans" cxnId="{B19E4EDA-356F-49B9-A32F-564881A5356A}">
      <dgm:prSet/>
      <dgm:spPr/>
      <dgm:t>
        <a:bodyPr/>
        <a:lstStyle/>
        <a:p>
          <a:endParaRPr lang="en-US"/>
        </a:p>
      </dgm:t>
    </dgm:pt>
    <dgm:pt modelId="{3314D9BB-BC5A-42DE-B5C1-61653A4E9D3E}">
      <dgm:prSet/>
      <dgm:spPr/>
      <dgm:t>
        <a:bodyPr/>
        <a:lstStyle/>
        <a:p>
          <a:r>
            <a:rPr lang="en-GB" b="1">
              <a:latin typeface="Aptos" panose="020B0004020202020204" pitchFamily="34" charset="0"/>
            </a:rPr>
            <a:t>Marketing Strategy</a:t>
          </a:r>
          <a:r>
            <a:rPr lang="en-GB">
              <a:latin typeface="Aptos" panose="020B0004020202020204" pitchFamily="34" charset="0"/>
            </a:rPr>
            <a:t>:</a:t>
          </a:r>
          <a:endParaRPr lang="en-US">
            <a:latin typeface="Aptos" panose="020B0004020202020204" pitchFamily="34" charset="0"/>
          </a:endParaRPr>
        </a:p>
      </dgm:t>
    </dgm:pt>
    <dgm:pt modelId="{30E2B30B-618A-4EC4-AAB5-3E0E62EF1E09}" type="parTrans" cxnId="{00EDCD23-7C73-49CB-884B-37A553BD9C5D}">
      <dgm:prSet/>
      <dgm:spPr/>
      <dgm:t>
        <a:bodyPr/>
        <a:lstStyle/>
        <a:p>
          <a:endParaRPr lang="en-US"/>
        </a:p>
      </dgm:t>
    </dgm:pt>
    <dgm:pt modelId="{0FFA0C6F-7D86-4011-B962-75350BE46608}" type="sibTrans" cxnId="{00EDCD23-7C73-49CB-884B-37A553BD9C5D}">
      <dgm:prSet/>
      <dgm:spPr/>
      <dgm:t>
        <a:bodyPr/>
        <a:lstStyle/>
        <a:p>
          <a:endParaRPr lang="en-US"/>
        </a:p>
      </dgm:t>
    </dgm:pt>
    <dgm:pt modelId="{DE1AE670-4D8D-42F5-B206-31958A5FDC1A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Campus activations and student discount promotions</a:t>
          </a:r>
          <a:endParaRPr lang="en-US">
            <a:latin typeface="Aptos" panose="020B0004020202020204" pitchFamily="34" charset="0"/>
          </a:endParaRPr>
        </a:p>
      </dgm:t>
    </dgm:pt>
    <dgm:pt modelId="{192C703A-60F3-412F-9BC2-CBC47591C7E2}" type="parTrans" cxnId="{6A17C5EB-552B-4448-96AA-DED9402E9B97}">
      <dgm:prSet/>
      <dgm:spPr/>
      <dgm:t>
        <a:bodyPr/>
        <a:lstStyle/>
        <a:p>
          <a:endParaRPr lang="en-US"/>
        </a:p>
      </dgm:t>
    </dgm:pt>
    <dgm:pt modelId="{A297636B-76F0-41DE-A493-FD160DE2D3A8}" type="sibTrans" cxnId="{6A17C5EB-552B-4448-96AA-DED9402E9B97}">
      <dgm:prSet/>
      <dgm:spPr/>
      <dgm:t>
        <a:bodyPr/>
        <a:lstStyle/>
        <a:p>
          <a:endParaRPr lang="en-US"/>
        </a:p>
      </dgm:t>
    </dgm:pt>
    <dgm:pt modelId="{80748B8E-11E8-46F5-AA8F-378E17B244AD}">
      <dgm:prSet/>
      <dgm:spPr/>
      <dgm:t>
        <a:bodyPr/>
        <a:lstStyle/>
        <a:p>
          <a:r>
            <a:rPr lang="en-GB" dirty="0">
              <a:latin typeface="Aptos" panose="020B0004020202020204" pitchFamily="34" charset="0"/>
            </a:rPr>
            <a:t>Combo meal bundles and loyalty rewards</a:t>
          </a:r>
          <a:endParaRPr lang="en-US" dirty="0">
            <a:latin typeface="Aptos" panose="020B0004020202020204" pitchFamily="34" charset="0"/>
          </a:endParaRPr>
        </a:p>
      </dgm:t>
    </dgm:pt>
    <dgm:pt modelId="{C8163378-1796-4C4E-996E-EE7CDC3F7056}" type="parTrans" cxnId="{20BA70F1-678C-47FA-B3AA-600673AE10B8}">
      <dgm:prSet/>
      <dgm:spPr/>
      <dgm:t>
        <a:bodyPr/>
        <a:lstStyle/>
        <a:p>
          <a:endParaRPr lang="en-US"/>
        </a:p>
      </dgm:t>
    </dgm:pt>
    <dgm:pt modelId="{3BFE3130-AC35-4D1B-B3C9-BAE183C00EAC}" type="sibTrans" cxnId="{20BA70F1-678C-47FA-B3AA-600673AE10B8}">
      <dgm:prSet/>
      <dgm:spPr/>
      <dgm:t>
        <a:bodyPr/>
        <a:lstStyle/>
        <a:p>
          <a:endParaRPr lang="en-US"/>
        </a:p>
      </dgm:t>
    </dgm:pt>
    <dgm:pt modelId="{D934990E-48B1-4E3C-B1F0-C843C7BF1C85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Leverage mobile app push notifications and in-app offers</a:t>
          </a:r>
          <a:endParaRPr lang="en-US">
            <a:latin typeface="Aptos" panose="020B0004020202020204" pitchFamily="34" charset="0"/>
          </a:endParaRPr>
        </a:p>
      </dgm:t>
    </dgm:pt>
    <dgm:pt modelId="{540B0A77-BB57-483F-8E54-E6637DE6BA39}" type="parTrans" cxnId="{D0C0836D-960D-4111-B2E7-44171CB242DA}">
      <dgm:prSet/>
      <dgm:spPr/>
      <dgm:t>
        <a:bodyPr/>
        <a:lstStyle/>
        <a:p>
          <a:endParaRPr lang="en-US"/>
        </a:p>
      </dgm:t>
    </dgm:pt>
    <dgm:pt modelId="{EC4B7799-E50B-477D-A2FE-321D9D260750}" type="sibTrans" cxnId="{D0C0836D-960D-4111-B2E7-44171CB242DA}">
      <dgm:prSet/>
      <dgm:spPr/>
      <dgm:t>
        <a:bodyPr/>
        <a:lstStyle/>
        <a:p>
          <a:endParaRPr lang="en-US"/>
        </a:p>
      </dgm:t>
    </dgm:pt>
    <dgm:pt modelId="{CD9B2680-25DD-4606-8233-EE6F79564219}" type="pres">
      <dgm:prSet presAssocID="{F20D3D37-F53F-4D0D-B06D-C7D86149EB7E}" presName="Name0" presStyleCnt="0">
        <dgm:presLayoutVars>
          <dgm:dir/>
          <dgm:animLvl val="lvl"/>
          <dgm:resizeHandles val="exact"/>
        </dgm:presLayoutVars>
      </dgm:prSet>
      <dgm:spPr/>
    </dgm:pt>
    <dgm:pt modelId="{50879143-67BE-442C-9037-A00770D15288}" type="pres">
      <dgm:prSet presAssocID="{EDD6B3A5-A945-445E-935A-56A4BA67204D}" presName="linNode" presStyleCnt="0"/>
      <dgm:spPr/>
    </dgm:pt>
    <dgm:pt modelId="{04885BE2-BE6B-4B7C-B97E-F315E1EBE771}" type="pres">
      <dgm:prSet presAssocID="{EDD6B3A5-A945-445E-935A-56A4BA67204D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A837EE93-AA96-4599-A903-8971E60A21B4}" type="pres">
      <dgm:prSet presAssocID="{EDD6B3A5-A945-445E-935A-56A4BA67204D}" presName="descendantText" presStyleLbl="alignAccFollowNode1" presStyleIdx="0" presStyleCnt="5">
        <dgm:presLayoutVars>
          <dgm:bulletEnabled/>
        </dgm:presLayoutVars>
      </dgm:prSet>
      <dgm:spPr/>
    </dgm:pt>
    <dgm:pt modelId="{62C0FA17-0AB0-4088-BE2F-F4E00D9C5282}" type="pres">
      <dgm:prSet presAssocID="{9B054CFA-61C4-4CC1-A577-7A97EFD691A4}" presName="sp" presStyleCnt="0"/>
      <dgm:spPr/>
    </dgm:pt>
    <dgm:pt modelId="{D68A9698-383C-4F64-901C-A256B251415A}" type="pres">
      <dgm:prSet presAssocID="{1848B202-FB02-4D9F-B6C2-E5E3B6D42021}" presName="linNode" presStyleCnt="0"/>
      <dgm:spPr/>
    </dgm:pt>
    <dgm:pt modelId="{D1138080-2DDA-44BC-9975-EC943F799084}" type="pres">
      <dgm:prSet presAssocID="{1848B202-FB02-4D9F-B6C2-E5E3B6D42021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F068B435-F0F1-419B-B335-80E7966C068F}" type="pres">
      <dgm:prSet presAssocID="{1848B202-FB02-4D9F-B6C2-E5E3B6D42021}" presName="descendantText" presStyleLbl="alignAccFollowNode1" presStyleIdx="1" presStyleCnt="5">
        <dgm:presLayoutVars>
          <dgm:bulletEnabled/>
        </dgm:presLayoutVars>
      </dgm:prSet>
      <dgm:spPr/>
    </dgm:pt>
    <dgm:pt modelId="{B0CD39E3-53D1-40EE-ACC4-3E3D6CBBDFBC}" type="pres">
      <dgm:prSet presAssocID="{C564A519-64A4-4DCC-986B-DA070DC651BA}" presName="sp" presStyleCnt="0"/>
      <dgm:spPr/>
    </dgm:pt>
    <dgm:pt modelId="{F9BB0C29-1402-4D4A-A88A-2F8A8B1F6EAE}" type="pres">
      <dgm:prSet presAssocID="{DEF17551-8E89-44EE-8C8D-AA1D407A3DCF}" presName="linNode" presStyleCnt="0"/>
      <dgm:spPr/>
    </dgm:pt>
    <dgm:pt modelId="{ABC4EC12-3F80-46FB-AAA5-663754DDB851}" type="pres">
      <dgm:prSet presAssocID="{DEF17551-8E89-44EE-8C8D-AA1D407A3DCF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94D453F2-F1CF-4571-B0BB-2F4BFFD317CC}" type="pres">
      <dgm:prSet presAssocID="{DEF17551-8E89-44EE-8C8D-AA1D407A3DCF}" presName="descendantText" presStyleLbl="alignAccFollowNode1" presStyleIdx="2" presStyleCnt="5">
        <dgm:presLayoutVars>
          <dgm:bulletEnabled/>
        </dgm:presLayoutVars>
      </dgm:prSet>
      <dgm:spPr/>
    </dgm:pt>
    <dgm:pt modelId="{416D9B3E-7993-449E-A0E3-5E7AA1156E9B}" type="pres">
      <dgm:prSet presAssocID="{FBC4FC52-6DBD-45BC-8C80-4E2AA56DA51B}" presName="sp" presStyleCnt="0"/>
      <dgm:spPr/>
    </dgm:pt>
    <dgm:pt modelId="{CBD68AAB-A692-459A-89BE-1371AA9B12ED}" type="pres">
      <dgm:prSet presAssocID="{B722374E-499E-43A5-A611-5BCE4492703A}" presName="linNode" presStyleCnt="0"/>
      <dgm:spPr/>
    </dgm:pt>
    <dgm:pt modelId="{C4F53679-A50A-4D0C-B71D-8B34EA111DEA}" type="pres">
      <dgm:prSet presAssocID="{B722374E-499E-43A5-A611-5BCE4492703A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D066957A-5B70-4E21-A8F7-10F36BC3DC2F}" type="pres">
      <dgm:prSet presAssocID="{B722374E-499E-43A5-A611-5BCE4492703A}" presName="descendantText" presStyleLbl="alignAccFollowNode1" presStyleIdx="3" presStyleCnt="5">
        <dgm:presLayoutVars>
          <dgm:bulletEnabled/>
        </dgm:presLayoutVars>
      </dgm:prSet>
      <dgm:spPr/>
    </dgm:pt>
    <dgm:pt modelId="{B953EA36-307F-45C3-82D4-10AC2B1AC878}" type="pres">
      <dgm:prSet presAssocID="{106428F3-61E4-4E07-B20E-7A69A56CA177}" presName="sp" presStyleCnt="0"/>
      <dgm:spPr/>
    </dgm:pt>
    <dgm:pt modelId="{13ECBF39-D9BB-460A-AA69-9B517716D738}" type="pres">
      <dgm:prSet presAssocID="{3314D9BB-BC5A-42DE-B5C1-61653A4E9D3E}" presName="linNode" presStyleCnt="0"/>
      <dgm:spPr/>
    </dgm:pt>
    <dgm:pt modelId="{B2CD96BC-E57F-403B-B9CC-9AAFE3E01F3D}" type="pres">
      <dgm:prSet presAssocID="{3314D9BB-BC5A-42DE-B5C1-61653A4E9D3E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89C05BB1-3AE6-4999-8645-1EB67A26E5A5}" type="pres">
      <dgm:prSet presAssocID="{3314D9BB-BC5A-42DE-B5C1-61653A4E9D3E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C1DE3906-30D2-41CC-96A4-27FC76D31C40}" srcId="{DEF17551-8E89-44EE-8C8D-AA1D407A3DCF}" destId="{5A0EC2AD-3D72-4991-AA16-825740F72A94}" srcOrd="3" destOrd="0" parTransId="{4FAEB1F9-0C9B-4CD4-9DF2-B42B2118D633}" sibTransId="{30D5CC31-A827-48E7-901A-B8B550C2FA63}"/>
    <dgm:cxn modelId="{EAF16F07-6906-4CE2-AB30-91BEB87F6749}" srcId="{DEF17551-8E89-44EE-8C8D-AA1D407A3DCF}" destId="{044B5D43-6743-44EA-8AC9-0447116F52B0}" srcOrd="1" destOrd="0" parTransId="{6B5DD0BE-B722-4301-9B16-2EAB03074925}" sibTransId="{9B07C362-8756-42D2-B5E6-F04392A1BDA3}"/>
    <dgm:cxn modelId="{DDD6F908-48F6-401F-8F22-1B3CB8387CFF}" type="presOf" srcId="{F20D3D37-F53F-4D0D-B06D-C7D86149EB7E}" destId="{CD9B2680-25DD-4606-8233-EE6F79564219}" srcOrd="0" destOrd="0" presId="urn:microsoft.com/office/officeart/2016/7/layout/VerticalSolidActionList"/>
    <dgm:cxn modelId="{3920480A-4EFE-4C14-B775-020755E319C1}" type="presOf" srcId="{DEF17551-8E89-44EE-8C8D-AA1D407A3DCF}" destId="{ABC4EC12-3F80-46FB-AAA5-663754DDB851}" srcOrd="0" destOrd="0" presId="urn:microsoft.com/office/officeart/2016/7/layout/VerticalSolidActionList"/>
    <dgm:cxn modelId="{38DEC911-0BDC-4EAF-9D98-5D49B3F72B9E}" srcId="{DEF17551-8E89-44EE-8C8D-AA1D407A3DCF}" destId="{66931BDF-53C9-4ADD-8EF5-24556AA55FD2}" srcOrd="2" destOrd="0" parTransId="{2AD598F6-AA17-4DB7-A529-409881598337}" sibTransId="{23BC5A5D-E7D4-4E1E-9ECA-484E312978FE}"/>
    <dgm:cxn modelId="{9F3F1B1E-6477-44CF-B578-A72293D0D0E3}" srcId="{F20D3D37-F53F-4D0D-B06D-C7D86149EB7E}" destId="{EDD6B3A5-A945-445E-935A-56A4BA67204D}" srcOrd="0" destOrd="0" parTransId="{5C4611FE-629C-4076-90CB-3CF2B5D20AD1}" sibTransId="{9B054CFA-61C4-4CC1-A577-7A97EFD691A4}"/>
    <dgm:cxn modelId="{9177C51E-C5F3-4C5F-A068-0C1A10EAB920}" srcId="{F20D3D37-F53F-4D0D-B06D-C7D86149EB7E}" destId="{B722374E-499E-43A5-A611-5BCE4492703A}" srcOrd="3" destOrd="0" parTransId="{DF6F880E-A14F-4C5B-A19D-9C7C534104D4}" sibTransId="{106428F3-61E4-4E07-B20E-7A69A56CA177}"/>
    <dgm:cxn modelId="{63FCF41F-C475-471F-B40B-A2CAA2BBA7BF}" type="presOf" srcId="{044B5D43-6743-44EA-8AC9-0447116F52B0}" destId="{94D453F2-F1CF-4571-B0BB-2F4BFFD317CC}" srcOrd="0" destOrd="1" presId="urn:microsoft.com/office/officeart/2016/7/layout/VerticalSolidActionList"/>
    <dgm:cxn modelId="{00EDCD23-7C73-49CB-884B-37A553BD9C5D}" srcId="{F20D3D37-F53F-4D0D-B06D-C7D86149EB7E}" destId="{3314D9BB-BC5A-42DE-B5C1-61653A4E9D3E}" srcOrd="4" destOrd="0" parTransId="{30E2B30B-618A-4EC4-AAB5-3E0E62EF1E09}" sibTransId="{0FFA0C6F-7D86-4011-B962-75350BE46608}"/>
    <dgm:cxn modelId="{5E383028-CC0B-42CA-A2DE-FCF0A3DA37A1}" type="presOf" srcId="{DE1AE670-4D8D-42F5-B206-31958A5FDC1A}" destId="{89C05BB1-3AE6-4999-8645-1EB67A26E5A5}" srcOrd="0" destOrd="0" presId="urn:microsoft.com/office/officeart/2016/7/layout/VerticalSolidActionList"/>
    <dgm:cxn modelId="{96A2933B-4646-4A80-B9C9-3456877D5405}" srcId="{F20D3D37-F53F-4D0D-B06D-C7D86149EB7E}" destId="{DEF17551-8E89-44EE-8C8D-AA1D407A3DCF}" srcOrd="2" destOrd="0" parTransId="{63CEA453-678A-4412-92AB-5B650BDBF1B3}" sibTransId="{FBC4FC52-6DBD-45BC-8C80-4E2AA56DA51B}"/>
    <dgm:cxn modelId="{A15C365B-84E3-4C2F-B4F2-173914C67407}" type="presOf" srcId="{5A0EC2AD-3D72-4991-AA16-825740F72A94}" destId="{94D453F2-F1CF-4571-B0BB-2F4BFFD317CC}" srcOrd="0" destOrd="3" presId="urn:microsoft.com/office/officeart/2016/7/layout/VerticalSolidActionList"/>
    <dgm:cxn modelId="{C540F65F-0130-4F46-A9EF-26DAAA06BB74}" srcId="{B722374E-499E-43A5-A611-5BCE4492703A}" destId="{286F5123-A2B1-4108-A722-7D9B855077F3}" srcOrd="1" destOrd="0" parTransId="{8F315AC4-F9E4-48DB-B9D2-27CE0759BD9B}" sibTransId="{2B125C01-D944-4AE5-8E79-D948B6528C84}"/>
    <dgm:cxn modelId="{DFB99D60-0DC4-4207-BB84-A49837351B64}" type="presOf" srcId="{3314D9BB-BC5A-42DE-B5C1-61653A4E9D3E}" destId="{B2CD96BC-E57F-403B-B9CC-9AAFE3E01F3D}" srcOrd="0" destOrd="0" presId="urn:microsoft.com/office/officeart/2016/7/layout/VerticalSolidActionList"/>
    <dgm:cxn modelId="{44473764-3ED2-4995-949F-7968840A1AB9}" srcId="{DEF17551-8E89-44EE-8C8D-AA1D407A3DCF}" destId="{22E68CFD-2E14-458A-81DB-B26EF5C1EE40}" srcOrd="0" destOrd="0" parTransId="{A1EB8EF2-9926-488B-8999-2500CB64396B}" sibTransId="{DE90C16A-3BDD-4CF8-B0A6-63AF4C733199}"/>
    <dgm:cxn modelId="{D0C0836D-960D-4111-B2E7-44171CB242DA}" srcId="{3314D9BB-BC5A-42DE-B5C1-61653A4E9D3E}" destId="{D934990E-48B1-4E3C-B1F0-C843C7BF1C85}" srcOrd="2" destOrd="0" parTransId="{540B0A77-BB57-483F-8E54-E6637DE6BA39}" sibTransId="{EC4B7799-E50B-477D-A2FE-321D9D260750}"/>
    <dgm:cxn modelId="{33DB2374-8DC9-4050-914B-746DDAFEDFB2}" type="presOf" srcId="{A2EEE5BA-B288-4DBF-A490-72A262352760}" destId="{D066957A-5B70-4E21-A8F7-10F36BC3DC2F}" srcOrd="0" destOrd="2" presId="urn:microsoft.com/office/officeart/2016/7/layout/VerticalSolidActionList"/>
    <dgm:cxn modelId="{7F61EC5A-221A-4868-9A7B-5139B11F1D80}" type="presOf" srcId="{66931BDF-53C9-4ADD-8EF5-24556AA55FD2}" destId="{94D453F2-F1CF-4571-B0BB-2F4BFFD317CC}" srcOrd="0" destOrd="2" presId="urn:microsoft.com/office/officeart/2016/7/layout/VerticalSolidActionList"/>
    <dgm:cxn modelId="{FD4A377B-1602-4FEF-8511-27132A7F111D}" type="presOf" srcId="{286F5123-A2B1-4108-A722-7D9B855077F3}" destId="{D066957A-5B70-4E21-A8F7-10F36BC3DC2F}" srcOrd="0" destOrd="1" presId="urn:microsoft.com/office/officeart/2016/7/layout/VerticalSolidActionList"/>
    <dgm:cxn modelId="{E18E5C82-24DF-4E93-BFD2-CE6E8CC53754}" type="presOf" srcId="{AFAE41F9-EA1A-4F60-BA75-1A56ACAF27DC}" destId="{D066957A-5B70-4E21-A8F7-10F36BC3DC2F}" srcOrd="0" destOrd="0" presId="urn:microsoft.com/office/officeart/2016/7/layout/VerticalSolidActionList"/>
    <dgm:cxn modelId="{77D5668A-3187-478F-B220-C5AD0CE87756}" srcId="{F20D3D37-F53F-4D0D-B06D-C7D86149EB7E}" destId="{1848B202-FB02-4D9F-B6C2-E5E3B6D42021}" srcOrd="1" destOrd="0" parTransId="{57AEB963-D2C5-416C-A5A9-9A87DC77A3D2}" sibTransId="{C564A519-64A4-4DCC-986B-DA070DC651BA}"/>
    <dgm:cxn modelId="{0B1E2896-61D0-40BE-ABE0-F6368E50A044}" type="presOf" srcId="{80748B8E-11E8-46F5-AA8F-378E17B244AD}" destId="{89C05BB1-3AE6-4999-8645-1EB67A26E5A5}" srcOrd="0" destOrd="1" presId="urn:microsoft.com/office/officeart/2016/7/layout/VerticalSolidActionList"/>
    <dgm:cxn modelId="{F9A3109E-36A9-430D-B173-EFE1E80B7C67}" srcId="{B722374E-499E-43A5-A611-5BCE4492703A}" destId="{AFAE41F9-EA1A-4F60-BA75-1A56ACAF27DC}" srcOrd="0" destOrd="0" parTransId="{4BDF841A-80F6-407F-AB2F-75FA66901628}" sibTransId="{EA1491B2-4891-42C5-8182-EEC93E14CA83}"/>
    <dgm:cxn modelId="{6C5049A4-CB31-4120-9E3F-EBC7512DF3EF}" type="presOf" srcId="{22E68CFD-2E14-458A-81DB-B26EF5C1EE40}" destId="{94D453F2-F1CF-4571-B0BB-2F4BFFD317CC}" srcOrd="0" destOrd="0" presId="urn:microsoft.com/office/officeart/2016/7/layout/VerticalSolidActionList"/>
    <dgm:cxn modelId="{C409D6BA-AE10-4741-BE5D-736C59ACD445}" type="presOf" srcId="{1848B202-FB02-4D9F-B6C2-E5E3B6D42021}" destId="{D1138080-2DDA-44BC-9975-EC943F799084}" srcOrd="0" destOrd="0" presId="urn:microsoft.com/office/officeart/2016/7/layout/VerticalSolidActionList"/>
    <dgm:cxn modelId="{C4BBB5C7-DFE3-4E9B-BEDC-EAD00E5D1940}" type="presOf" srcId="{EDD6B3A5-A945-445E-935A-56A4BA67204D}" destId="{04885BE2-BE6B-4B7C-B97E-F315E1EBE771}" srcOrd="0" destOrd="0" presId="urn:microsoft.com/office/officeart/2016/7/layout/VerticalSolidActionList"/>
    <dgm:cxn modelId="{C70490D6-B310-4CF2-8429-4E6C82D9C512}" type="presOf" srcId="{B722374E-499E-43A5-A611-5BCE4492703A}" destId="{C4F53679-A50A-4D0C-B71D-8B34EA111DEA}" srcOrd="0" destOrd="0" presId="urn:microsoft.com/office/officeart/2016/7/layout/VerticalSolidActionList"/>
    <dgm:cxn modelId="{B19E4EDA-356F-49B9-A32F-564881A5356A}" srcId="{B722374E-499E-43A5-A611-5BCE4492703A}" destId="{A2EEE5BA-B288-4DBF-A490-72A262352760}" srcOrd="2" destOrd="0" parTransId="{8204831C-A9BF-4E2F-A531-93DF8F0A77AD}" sibTransId="{52989344-756F-452D-A0F4-25C73F200052}"/>
    <dgm:cxn modelId="{CFA632E8-1676-416F-8569-CE64A170719E}" type="presOf" srcId="{D934990E-48B1-4E3C-B1F0-C843C7BF1C85}" destId="{89C05BB1-3AE6-4999-8645-1EB67A26E5A5}" srcOrd="0" destOrd="2" presId="urn:microsoft.com/office/officeart/2016/7/layout/VerticalSolidActionList"/>
    <dgm:cxn modelId="{6A17C5EB-552B-4448-96AA-DED9402E9B97}" srcId="{3314D9BB-BC5A-42DE-B5C1-61653A4E9D3E}" destId="{DE1AE670-4D8D-42F5-B206-31958A5FDC1A}" srcOrd="0" destOrd="0" parTransId="{192C703A-60F3-412F-9BC2-CBC47591C7E2}" sibTransId="{A297636B-76F0-41DE-A493-FD160DE2D3A8}"/>
    <dgm:cxn modelId="{20BA70F1-678C-47FA-B3AA-600673AE10B8}" srcId="{3314D9BB-BC5A-42DE-B5C1-61653A4E9D3E}" destId="{80748B8E-11E8-46F5-AA8F-378E17B244AD}" srcOrd="1" destOrd="0" parTransId="{C8163378-1796-4C4E-996E-EE7CDC3F7056}" sibTransId="{3BFE3130-AC35-4D1B-B3C9-BAE183C00EAC}"/>
    <dgm:cxn modelId="{06ED7D3C-FDA3-4900-8B3B-47AB257DA454}" type="presParOf" srcId="{CD9B2680-25DD-4606-8233-EE6F79564219}" destId="{50879143-67BE-442C-9037-A00770D15288}" srcOrd="0" destOrd="0" presId="urn:microsoft.com/office/officeart/2016/7/layout/VerticalSolidActionList"/>
    <dgm:cxn modelId="{04C976F4-DC53-4FBA-9BC1-FE9A66307C80}" type="presParOf" srcId="{50879143-67BE-442C-9037-A00770D15288}" destId="{04885BE2-BE6B-4B7C-B97E-F315E1EBE771}" srcOrd="0" destOrd="0" presId="urn:microsoft.com/office/officeart/2016/7/layout/VerticalSolidActionList"/>
    <dgm:cxn modelId="{412FBF4D-EE23-48D5-A607-5D8FE28945B7}" type="presParOf" srcId="{50879143-67BE-442C-9037-A00770D15288}" destId="{A837EE93-AA96-4599-A903-8971E60A21B4}" srcOrd="1" destOrd="0" presId="urn:microsoft.com/office/officeart/2016/7/layout/VerticalSolidActionList"/>
    <dgm:cxn modelId="{BC601F9B-C216-445C-816F-2820C4599164}" type="presParOf" srcId="{CD9B2680-25DD-4606-8233-EE6F79564219}" destId="{62C0FA17-0AB0-4088-BE2F-F4E00D9C5282}" srcOrd="1" destOrd="0" presId="urn:microsoft.com/office/officeart/2016/7/layout/VerticalSolidActionList"/>
    <dgm:cxn modelId="{3CCB9F45-3930-40E3-B5D3-3FF99724B2DF}" type="presParOf" srcId="{CD9B2680-25DD-4606-8233-EE6F79564219}" destId="{D68A9698-383C-4F64-901C-A256B251415A}" srcOrd="2" destOrd="0" presId="urn:microsoft.com/office/officeart/2016/7/layout/VerticalSolidActionList"/>
    <dgm:cxn modelId="{3C2B6CC1-F574-419E-9E81-1070D613DD1C}" type="presParOf" srcId="{D68A9698-383C-4F64-901C-A256B251415A}" destId="{D1138080-2DDA-44BC-9975-EC943F799084}" srcOrd="0" destOrd="0" presId="urn:microsoft.com/office/officeart/2016/7/layout/VerticalSolidActionList"/>
    <dgm:cxn modelId="{AFCBE676-1B00-4F1D-B99A-07916BE76264}" type="presParOf" srcId="{D68A9698-383C-4F64-901C-A256B251415A}" destId="{F068B435-F0F1-419B-B335-80E7966C068F}" srcOrd="1" destOrd="0" presId="urn:microsoft.com/office/officeart/2016/7/layout/VerticalSolidActionList"/>
    <dgm:cxn modelId="{99E17CBB-2428-47A5-9EF0-1EC09D12A957}" type="presParOf" srcId="{CD9B2680-25DD-4606-8233-EE6F79564219}" destId="{B0CD39E3-53D1-40EE-ACC4-3E3D6CBBDFBC}" srcOrd="3" destOrd="0" presId="urn:microsoft.com/office/officeart/2016/7/layout/VerticalSolidActionList"/>
    <dgm:cxn modelId="{D7895029-0B08-4E9B-B56F-C4834FE34B6A}" type="presParOf" srcId="{CD9B2680-25DD-4606-8233-EE6F79564219}" destId="{F9BB0C29-1402-4D4A-A88A-2F8A8B1F6EAE}" srcOrd="4" destOrd="0" presId="urn:microsoft.com/office/officeart/2016/7/layout/VerticalSolidActionList"/>
    <dgm:cxn modelId="{B8C78F2E-3609-4C58-8025-28F89AEE08FE}" type="presParOf" srcId="{F9BB0C29-1402-4D4A-A88A-2F8A8B1F6EAE}" destId="{ABC4EC12-3F80-46FB-AAA5-663754DDB851}" srcOrd="0" destOrd="0" presId="urn:microsoft.com/office/officeart/2016/7/layout/VerticalSolidActionList"/>
    <dgm:cxn modelId="{07426ADD-F90C-43D3-A665-4BFD44F68B8F}" type="presParOf" srcId="{F9BB0C29-1402-4D4A-A88A-2F8A8B1F6EAE}" destId="{94D453F2-F1CF-4571-B0BB-2F4BFFD317CC}" srcOrd="1" destOrd="0" presId="urn:microsoft.com/office/officeart/2016/7/layout/VerticalSolidActionList"/>
    <dgm:cxn modelId="{F0B358EB-7827-4F0C-98FD-51099C72AB94}" type="presParOf" srcId="{CD9B2680-25DD-4606-8233-EE6F79564219}" destId="{416D9B3E-7993-449E-A0E3-5E7AA1156E9B}" srcOrd="5" destOrd="0" presId="urn:microsoft.com/office/officeart/2016/7/layout/VerticalSolidActionList"/>
    <dgm:cxn modelId="{BA292F27-7108-49C6-A3C4-BF6271A91DBE}" type="presParOf" srcId="{CD9B2680-25DD-4606-8233-EE6F79564219}" destId="{CBD68AAB-A692-459A-89BE-1371AA9B12ED}" srcOrd="6" destOrd="0" presId="urn:microsoft.com/office/officeart/2016/7/layout/VerticalSolidActionList"/>
    <dgm:cxn modelId="{FC2D5C36-40C8-4FED-8459-CC885372625F}" type="presParOf" srcId="{CBD68AAB-A692-459A-89BE-1371AA9B12ED}" destId="{C4F53679-A50A-4D0C-B71D-8B34EA111DEA}" srcOrd="0" destOrd="0" presId="urn:microsoft.com/office/officeart/2016/7/layout/VerticalSolidActionList"/>
    <dgm:cxn modelId="{46AEF2C7-649C-4EA0-BB3B-BAEC9802F781}" type="presParOf" srcId="{CBD68AAB-A692-459A-89BE-1371AA9B12ED}" destId="{D066957A-5B70-4E21-A8F7-10F36BC3DC2F}" srcOrd="1" destOrd="0" presId="urn:microsoft.com/office/officeart/2016/7/layout/VerticalSolidActionList"/>
    <dgm:cxn modelId="{277D7B83-6C8B-42EE-9A4C-F8560455FF03}" type="presParOf" srcId="{CD9B2680-25DD-4606-8233-EE6F79564219}" destId="{B953EA36-307F-45C3-82D4-10AC2B1AC878}" srcOrd="7" destOrd="0" presId="urn:microsoft.com/office/officeart/2016/7/layout/VerticalSolidActionList"/>
    <dgm:cxn modelId="{60F623E2-EDB8-4DF8-99CB-2056A11BD852}" type="presParOf" srcId="{CD9B2680-25DD-4606-8233-EE6F79564219}" destId="{13ECBF39-D9BB-460A-AA69-9B517716D738}" srcOrd="8" destOrd="0" presId="urn:microsoft.com/office/officeart/2016/7/layout/VerticalSolidActionList"/>
    <dgm:cxn modelId="{C2390BCE-523D-477C-9821-8112B46FE96F}" type="presParOf" srcId="{13ECBF39-D9BB-460A-AA69-9B517716D738}" destId="{B2CD96BC-E57F-403B-B9CC-9AAFE3E01F3D}" srcOrd="0" destOrd="0" presId="urn:microsoft.com/office/officeart/2016/7/layout/VerticalSolidActionList"/>
    <dgm:cxn modelId="{323BC8A8-11EF-4836-B4E3-ADC9F82BDA34}" type="presParOf" srcId="{13ECBF39-D9BB-460A-AA69-9B517716D738}" destId="{89C05BB1-3AE6-4999-8645-1EB67A26E5A5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B199DE-2043-480A-8B8F-681313C852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1AD326-321D-4F20-A38C-E36ABE92DC20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Platforms: Instagram, YouTube, Meta Ads, Google Search</a:t>
          </a:r>
          <a:endParaRPr lang="en-US">
            <a:latin typeface="Aptos" panose="020B0004020202020204" pitchFamily="34" charset="0"/>
          </a:endParaRPr>
        </a:p>
      </dgm:t>
    </dgm:pt>
    <dgm:pt modelId="{478104E7-06BB-40DF-8870-0D284B3146D8}" type="parTrans" cxnId="{D089B649-8163-4AAF-8572-93637EBC03B2}">
      <dgm:prSet/>
      <dgm:spPr/>
      <dgm:t>
        <a:bodyPr/>
        <a:lstStyle/>
        <a:p>
          <a:endParaRPr lang="en-US"/>
        </a:p>
      </dgm:t>
    </dgm:pt>
    <dgm:pt modelId="{8DA71880-AECB-4F55-8609-887F28E87D53}" type="sibTrans" cxnId="{D089B649-8163-4AAF-8572-93637EBC03B2}">
      <dgm:prSet/>
      <dgm:spPr/>
      <dgm:t>
        <a:bodyPr/>
        <a:lstStyle/>
        <a:p>
          <a:endParaRPr lang="en-US"/>
        </a:p>
      </dgm:t>
    </dgm:pt>
    <dgm:pt modelId="{8493F1E7-1B1F-4A23-8688-53C02462B7E9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Monthly Budget: AUD 1000 (Total: AUD 6000)</a:t>
          </a:r>
          <a:endParaRPr lang="en-US">
            <a:latin typeface="Aptos" panose="020B0004020202020204" pitchFamily="34" charset="0"/>
          </a:endParaRPr>
        </a:p>
      </dgm:t>
    </dgm:pt>
    <dgm:pt modelId="{402460BD-19AC-429D-9B75-9A5B01E9EAAA}" type="parTrans" cxnId="{AFBA9A64-917D-4EF0-AEB5-3ACD1DA44BD6}">
      <dgm:prSet/>
      <dgm:spPr/>
      <dgm:t>
        <a:bodyPr/>
        <a:lstStyle/>
        <a:p>
          <a:endParaRPr lang="en-US"/>
        </a:p>
      </dgm:t>
    </dgm:pt>
    <dgm:pt modelId="{270621AA-E54B-4C34-AB53-9C2051445EEA}" type="sibTrans" cxnId="{AFBA9A64-917D-4EF0-AEB5-3ACD1DA44BD6}">
      <dgm:prSet/>
      <dgm:spPr/>
      <dgm:t>
        <a:bodyPr/>
        <a:lstStyle/>
        <a:p>
          <a:endParaRPr lang="en-US"/>
        </a:p>
      </dgm:t>
    </dgm:pt>
    <dgm:pt modelId="{8A5420BA-CCB5-4965-B4E7-F2F02768207F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Messages will highlight: "Healthy indulgence," "Customisable veggie delight," and value-driven bundles</a:t>
          </a:r>
          <a:endParaRPr lang="en-US">
            <a:latin typeface="Aptos" panose="020B0004020202020204" pitchFamily="34" charset="0"/>
          </a:endParaRPr>
        </a:p>
      </dgm:t>
    </dgm:pt>
    <dgm:pt modelId="{BBB7917A-438B-4DA8-BA3D-783190014576}" type="parTrans" cxnId="{403C9889-C0B1-4F7A-AD55-7465B18CB0D9}">
      <dgm:prSet/>
      <dgm:spPr/>
      <dgm:t>
        <a:bodyPr/>
        <a:lstStyle/>
        <a:p>
          <a:endParaRPr lang="en-US"/>
        </a:p>
      </dgm:t>
    </dgm:pt>
    <dgm:pt modelId="{675D55B1-A7D4-4AC4-9C0E-8971DB914883}" type="sibTrans" cxnId="{403C9889-C0B1-4F7A-AD55-7465B18CB0D9}">
      <dgm:prSet/>
      <dgm:spPr/>
      <dgm:t>
        <a:bodyPr/>
        <a:lstStyle/>
        <a:p>
          <a:endParaRPr lang="en-US"/>
        </a:p>
      </dgm:t>
    </dgm:pt>
    <dgm:pt modelId="{D073C611-4327-4C20-80D3-0765F10659E3}">
      <dgm:prSet/>
      <dgm:spPr/>
      <dgm:t>
        <a:bodyPr/>
        <a:lstStyle/>
        <a:p>
          <a:r>
            <a:rPr lang="en-GB">
              <a:latin typeface="Aptos" panose="020B0004020202020204" pitchFamily="34" charset="0"/>
            </a:rPr>
            <a:t>Use tracking pixels and UTM tags to monitor campaign effectiveness</a:t>
          </a:r>
          <a:endParaRPr lang="en-US">
            <a:latin typeface="Aptos" panose="020B0004020202020204" pitchFamily="34" charset="0"/>
          </a:endParaRPr>
        </a:p>
      </dgm:t>
    </dgm:pt>
    <dgm:pt modelId="{841C9DE0-6430-4AEA-BEA3-3CD668A2E2DF}" type="parTrans" cxnId="{35ABFB85-A2AB-4E84-ADB1-A22EE1ABDDDD}">
      <dgm:prSet/>
      <dgm:spPr/>
      <dgm:t>
        <a:bodyPr/>
        <a:lstStyle/>
        <a:p>
          <a:endParaRPr lang="en-US"/>
        </a:p>
      </dgm:t>
    </dgm:pt>
    <dgm:pt modelId="{3B7A75A1-5055-4BF7-AAF1-9052B6FD6525}" type="sibTrans" cxnId="{35ABFB85-A2AB-4E84-ADB1-A22EE1ABDDDD}">
      <dgm:prSet/>
      <dgm:spPr/>
      <dgm:t>
        <a:bodyPr/>
        <a:lstStyle/>
        <a:p>
          <a:endParaRPr lang="en-US"/>
        </a:p>
      </dgm:t>
    </dgm:pt>
    <dgm:pt modelId="{4AEC0FF3-60FD-499D-9837-57F57E273C55}" type="pres">
      <dgm:prSet presAssocID="{F4B199DE-2043-480A-8B8F-681313C85291}" presName="linear" presStyleCnt="0">
        <dgm:presLayoutVars>
          <dgm:animLvl val="lvl"/>
          <dgm:resizeHandles val="exact"/>
        </dgm:presLayoutVars>
      </dgm:prSet>
      <dgm:spPr/>
    </dgm:pt>
    <dgm:pt modelId="{9921E80A-1B92-43F8-A2E6-7B1AA65054EA}" type="pres">
      <dgm:prSet presAssocID="{3F1AD326-321D-4F20-A38C-E36ABE92DC2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CA9770-5650-4EDF-9099-99C8CC99BB2A}" type="pres">
      <dgm:prSet presAssocID="{8DA71880-AECB-4F55-8609-887F28E87D53}" presName="spacer" presStyleCnt="0"/>
      <dgm:spPr/>
    </dgm:pt>
    <dgm:pt modelId="{F3E60A9B-40F8-40AE-AD83-943AE0713599}" type="pres">
      <dgm:prSet presAssocID="{8493F1E7-1B1F-4A23-8688-53C02462B7E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A72DC9-8364-4FBD-9B5E-44E71BC0644C}" type="pres">
      <dgm:prSet presAssocID="{270621AA-E54B-4C34-AB53-9C2051445EEA}" presName="spacer" presStyleCnt="0"/>
      <dgm:spPr/>
    </dgm:pt>
    <dgm:pt modelId="{2D21F55E-945E-40CA-AF7B-100DB4F89BC1}" type="pres">
      <dgm:prSet presAssocID="{8A5420BA-CCB5-4965-B4E7-F2F0276820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1DE3C0-5A58-4A30-A0B6-DBBCD7927676}" type="pres">
      <dgm:prSet presAssocID="{675D55B1-A7D4-4AC4-9C0E-8971DB914883}" presName="spacer" presStyleCnt="0"/>
      <dgm:spPr/>
    </dgm:pt>
    <dgm:pt modelId="{DEBDA222-D997-4EA2-8CC3-A3B3B6C1B61A}" type="pres">
      <dgm:prSet presAssocID="{D073C611-4327-4C20-80D3-0765F10659E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72E841-C92F-4829-9552-3E98063506BA}" type="presOf" srcId="{D073C611-4327-4C20-80D3-0765F10659E3}" destId="{DEBDA222-D997-4EA2-8CC3-A3B3B6C1B61A}" srcOrd="0" destOrd="0" presId="urn:microsoft.com/office/officeart/2005/8/layout/vList2"/>
    <dgm:cxn modelId="{AFBA9A64-917D-4EF0-AEB5-3ACD1DA44BD6}" srcId="{F4B199DE-2043-480A-8B8F-681313C85291}" destId="{8493F1E7-1B1F-4A23-8688-53C02462B7E9}" srcOrd="1" destOrd="0" parTransId="{402460BD-19AC-429D-9B75-9A5B01E9EAAA}" sibTransId="{270621AA-E54B-4C34-AB53-9C2051445EEA}"/>
    <dgm:cxn modelId="{D089B649-8163-4AAF-8572-93637EBC03B2}" srcId="{F4B199DE-2043-480A-8B8F-681313C85291}" destId="{3F1AD326-321D-4F20-A38C-E36ABE92DC20}" srcOrd="0" destOrd="0" parTransId="{478104E7-06BB-40DF-8870-0D284B3146D8}" sibTransId="{8DA71880-AECB-4F55-8609-887F28E87D53}"/>
    <dgm:cxn modelId="{B2B3564F-6CC5-4156-89E9-1E713DBCF956}" type="presOf" srcId="{F4B199DE-2043-480A-8B8F-681313C85291}" destId="{4AEC0FF3-60FD-499D-9837-57F57E273C55}" srcOrd="0" destOrd="0" presId="urn:microsoft.com/office/officeart/2005/8/layout/vList2"/>
    <dgm:cxn modelId="{35ABFB85-A2AB-4E84-ADB1-A22EE1ABDDDD}" srcId="{F4B199DE-2043-480A-8B8F-681313C85291}" destId="{D073C611-4327-4C20-80D3-0765F10659E3}" srcOrd="3" destOrd="0" parTransId="{841C9DE0-6430-4AEA-BEA3-3CD668A2E2DF}" sibTransId="{3B7A75A1-5055-4BF7-AAF1-9052B6FD6525}"/>
    <dgm:cxn modelId="{403C9889-C0B1-4F7A-AD55-7465B18CB0D9}" srcId="{F4B199DE-2043-480A-8B8F-681313C85291}" destId="{8A5420BA-CCB5-4965-B4E7-F2F02768207F}" srcOrd="2" destOrd="0" parTransId="{BBB7917A-438B-4DA8-BA3D-783190014576}" sibTransId="{675D55B1-A7D4-4AC4-9C0E-8971DB914883}"/>
    <dgm:cxn modelId="{FCC06C94-8835-4D82-83FE-93B0C9895AF4}" type="presOf" srcId="{8493F1E7-1B1F-4A23-8688-53C02462B7E9}" destId="{F3E60A9B-40F8-40AE-AD83-943AE0713599}" srcOrd="0" destOrd="0" presId="urn:microsoft.com/office/officeart/2005/8/layout/vList2"/>
    <dgm:cxn modelId="{4A7921A4-3383-4BC0-97F0-580E7A2BA682}" type="presOf" srcId="{3F1AD326-321D-4F20-A38C-E36ABE92DC20}" destId="{9921E80A-1B92-43F8-A2E6-7B1AA65054EA}" srcOrd="0" destOrd="0" presId="urn:microsoft.com/office/officeart/2005/8/layout/vList2"/>
    <dgm:cxn modelId="{BB2C18D6-7388-4F96-99F0-EC62E6BC5840}" type="presOf" srcId="{8A5420BA-CCB5-4965-B4E7-F2F02768207F}" destId="{2D21F55E-945E-40CA-AF7B-100DB4F89BC1}" srcOrd="0" destOrd="0" presId="urn:microsoft.com/office/officeart/2005/8/layout/vList2"/>
    <dgm:cxn modelId="{AFE11919-DFAC-4A1B-9231-8C66E9D21A81}" type="presParOf" srcId="{4AEC0FF3-60FD-499D-9837-57F57E273C55}" destId="{9921E80A-1B92-43F8-A2E6-7B1AA65054EA}" srcOrd="0" destOrd="0" presId="urn:microsoft.com/office/officeart/2005/8/layout/vList2"/>
    <dgm:cxn modelId="{BB968D03-6573-49B2-ABB0-F3EE205DE413}" type="presParOf" srcId="{4AEC0FF3-60FD-499D-9837-57F57E273C55}" destId="{CFCA9770-5650-4EDF-9099-99C8CC99BB2A}" srcOrd="1" destOrd="0" presId="urn:microsoft.com/office/officeart/2005/8/layout/vList2"/>
    <dgm:cxn modelId="{A97A9053-31AC-4AFD-95BD-324C45F24429}" type="presParOf" srcId="{4AEC0FF3-60FD-499D-9837-57F57E273C55}" destId="{F3E60A9B-40F8-40AE-AD83-943AE0713599}" srcOrd="2" destOrd="0" presId="urn:microsoft.com/office/officeart/2005/8/layout/vList2"/>
    <dgm:cxn modelId="{51C54D26-428C-4BDC-A316-AC3BB0E94624}" type="presParOf" srcId="{4AEC0FF3-60FD-499D-9837-57F57E273C55}" destId="{C2A72DC9-8364-4FBD-9B5E-44E71BC0644C}" srcOrd="3" destOrd="0" presId="urn:microsoft.com/office/officeart/2005/8/layout/vList2"/>
    <dgm:cxn modelId="{806D5738-423E-47DC-8D45-E82416E3E617}" type="presParOf" srcId="{4AEC0FF3-60FD-499D-9837-57F57E273C55}" destId="{2D21F55E-945E-40CA-AF7B-100DB4F89BC1}" srcOrd="4" destOrd="0" presId="urn:microsoft.com/office/officeart/2005/8/layout/vList2"/>
    <dgm:cxn modelId="{C09CF649-8B33-438B-86BE-4FC378DD4BEB}" type="presParOf" srcId="{4AEC0FF3-60FD-499D-9837-57F57E273C55}" destId="{281DE3C0-5A58-4A30-A0B6-DBBCD7927676}" srcOrd="5" destOrd="0" presId="urn:microsoft.com/office/officeart/2005/8/layout/vList2"/>
    <dgm:cxn modelId="{F310072E-D420-4705-9365-652A65746792}" type="presParOf" srcId="{4AEC0FF3-60FD-499D-9837-57F57E273C55}" destId="{DEBDA222-D997-4EA2-8CC3-A3B3B6C1B6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16A21D-C73C-4AFD-800A-ED5A89AAE0D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C1028C-DC52-494C-AC91-DBC657DA832D}">
      <dgm:prSet/>
      <dgm:spPr/>
      <dgm:t>
        <a:bodyPr/>
        <a:lstStyle/>
        <a:p>
          <a:r>
            <a:rPr lang="en-GB" dirty="0">
              <a:latin typeface="Aptos" panose="020B0004020202020204" pitchFamily="34" charset="0"/>
            </a:rPr>
            <a:t>The project identified two distinct customer segments—Value-Focused Millennials and Experimental Urban Adults—through data-driven conjoint and cluster analyses</a:t>
          </a:r>
          <a:endParaRPr lang="en-US" dirty="0">
            <a:latin typeface="Aptos" panose="020B0004020202020204" pitchFamily="34" charset="0"/>
          </a:endParaRPr>
        </a:p>
      </dgm:t>
    </dgm:pt>
    <dgm:pt modelId="{51BC3AC4-119E-4B15-8C98-21AD0CF922D2}" type="parTrans" cxnId="{BDA2F89B-9152-4A4F-AE94-016A3B7D3DE2}">
      <dgm:prSet/>
      <dgm:spPr/>
      <dgm:t>
        <a:bodyPr/>
        <a:lstStyle/>
        <a:p>
          <a:endParaRPr lang="en-US"/>
        </a:p>
      </dgm:t>
    </dgm:pt>
    <dgm:pt modelId="{9B5C49D7-B191-4307-8449-85B065C1E8F7}" type="sibTrans" cxnId="{BDA2F89B-9152-4A4F-AE94-016A3B7D3DE2}">
      <dgm:prSet/>
      <dgm:spPr/>
      <dgm:t>
        <a:bodyPr/>
        <a:lstStyle/>
        <a:p>
          <a:endParaRPr lang="en-US"/>
        </a:p>
      </dgm:t>
    </dgm:pt>
    <dgm:pt modelId="{618BC6AD-77A8-4931-B12A-122C9FE43779}">
      <dgm:prSet/>
      <dgm:spPr/>
      <dgm:t>
        <a:bodyPr/>
        <a:lstStyle/>
        <a:p>
          <a:r>
            <a:rPr lang="en-GB" dirty="0">
              <a:latin typeface="Aptos" panose="020B0004020202020204" pitchFamily="34" charset="0"/>
            </a:rPr>
            <a:t>A double Paneer patty burger with multigrain bread and customisable toppings at $11.95 fits the sweet spot of preference and market positioning</a:t>
          </a:r>
          <a:endParaRPr lang="en-US" dirty="0">
            <a:latin typeface="Aptos" panose="020B0004020202020204" pitchFamily="34" charset="0"/>
          </a:endParaRPr>
        </a:p>
      </dgm:t>
    </dgm:pt>
    <dgm:pt modelId="{875B5D90-A006-4E75-BEB8-BC03689AC898}" type="parTrans" cxnId="{3CBD41D3-75F9-479A-92D1-FE5B20A87219}">
      <dgm:prSet/>
      <dgm:spPr/>
      <dgm:t>
        <a:bodyPr/>
        <a:lstStyle/>
        <a:p>
          <a:endParaRPr lang="en-US"/>
        </a:p>
      </dgm:t>
    </dgm:pt>
    <dgm:pt modelId="{21960BD6-F65C-4C37-AF3D-E6DD18E60025}" type="sibTrans" cxnId="{3CBD41D3-75F9-479A-92D1-FE5B20A87219}">
      <dgm:prSet/>
      <dgm:spPr/>
      <dgm:t>
        <a:bodyPr/>
        <a:lstStyle/>
        <a:p>
          <a:endParaRPr lang="en-US"/>
        </a:p>
      </dgm:t>
    </dgm:pt>
    <dgm:pt modelId="{CFA628A7-4A2D-4ACD-9739-7E27EEF7BF58}">
      <dgm:prSet/>
      <dgm:spPr/>
      <dgm:t>
        <a:bodyPr/>
        <a:lstStyle/>
        <a:p>
          <a:r>
            <a:rPr lang="en-GB" dirty="0">
              <a:latin typeface="Aptos" panose="020B0004020202020204" pitchFamily="34" charset="0"/>
            </a:rPr>
            <a:t>The ideal positioning balances price sensitivity and health-conscious indulgence, backed by a clear gap in the perceptual map</a:t>
          </a:r>
          <a:endParaRPr lang="en-US" dirty="0">
            <a:latin typeface="Aptos" panose="020B0004020202020204" pitchFamily="34" charset="0"/>
          </a:endParaRPr>
        </a:p>
      </dgm:t>
    </dgm:pt>
    <dgm:pt modelId="{E30A3FBC-FAD0-44FF-96EF-49C2A94B4531}" type="parTrans" cxnId="{AD26F306-3A06-426F-B1A0-DD5F0FCD309C}">
      <dgm:prSet/>
      <dgm:spPr/>
      <dgm:t>
        <a:bodyPr/>
        <a:lstStyle/>
        <a:p>
          <a:endParaRPr lang="en-US"/>
        </a:p>
      </dgm:t>
    </dgm:pt>
    <dgm:pt modelId="{4C790587-680A-4D60-9BA0-672878C069AA}" type="sibTrans" cxnId="{AD26F306-3A06-426F-B1A0-DD5F0FCD309C}">
      <dgm:prSet/>
      <dgm:spPr/>
      <dgm:t>
        <a:bodyPr/>
        <a:lstStyle/>
        <a:p>
          <a:endParaRPr lang="en-US"/>
        </a:p>
      </dgm:t>
    </dgm:pt>
    <dgm:pt modelId="{C4E2BF4C-3810-44A0-9677-9DAAE18F4225}">
      <dgm:prSet/>
      <dgm:spPr/>
      <dgm:t>
        <a:bodyPr/>
        <a:lstStyle/>
        <a:p>
          <a:r>
            <a:rPr lang="en-GB" dirty="0">
              <a:latin typeface="Aptos" panose="020B0004020202020204" pitchFamily="34" charset="0"/>
            </a:rPr>
            <a:t>Strategic recommendations include dual product lines and a targeted 6-month digital marketing plan with focused SEO/SEM execution</a:t>
          </a:r>
          <a:endParaRPr lang="en-US" dirty="0">
            <a:latin typeface="Aptos" panose="020B0004020202020204" pitchFamily="34" charset="0"/>
          </a:endParaRPr>
        </a:p>
      </dgm:t>
    </dgm:pt>
    <dgm:pt modelId="{D6853561-F14E-4608-AD6D-A8F43D0C777E}" type="parTrans" cxnId="{C0FB9EC8-AAFA-431B-8949-5F32FB126C6A}">
      <dgm:prSet/>
      <dgm:spPr/>
      <dgm:t>
        <a:bodyPr/>
        <a:lstStyle/>
        <a:p>
          <a:endParaRPr lang="en-US"/>
        </a:p>
      </dgm:t>
    </dgm:pt>
    <dgm:pt modelId="{1693E0E4-0BA1-4911-BDB8-7BFC04BE1DE2}" type="sibTrans" cxnId="{C0FB9EC8-AAFA-431B-8949-5F32FB126C6A}">
      <dgm:prSet/>
      <dgm:spPr/>
      <dgm:t>
        <a:bodyPr/>
        <a:lstStyle/>
        <a:p>
          <a:endParaRPr lang="en-US"/>
        </a:p>
      </dgm:t>
    </dgm:pt>
    <dgm:pt modelId="{417DBCF5-1A79-4E96-9D0C-ACE8C02E36E7}">
      <dgm:prSet/>
      <dgm:spPr/>
      <dgm:t>
        <a:bodyPr/>
        <a:lstStyle/>
        <a:p>
          <a:r>
            <a:rPr lang="en-GB" dirty="0">
              <a:latin typeface="Aptos" panose="020B0004020202020204" pitchFamily="34" charset="0"/>
            </a:rPr>
            <a:t>McDonald’s is well-positioned to lead the plant-based category by combining brand familiarity with modern, customisable offerings</a:t>
          </a:r>
          <a:endParaRPr lang="en-US" dirty="0">
            <a:latin typeface="Aptos" panose="020B0004020202020204" pitchFamily="34" charset="0"/>
          </a:endParaRPr>
        </a:p>
      </dgm:t>
    </dgm:pt>
    <dgm:pt modelId="{B4453DB3-7433-4B90-86FA-B959BB551CBA}" type="parTrans" cxnId="{3BE1D559-FD80-42AC-8841-3BFF83E3858A}">
      <dgm:prSet/>
      <dgm:spPr/>
      <dgm:t>
        <a:bodyPr/>
        <a:lstStyle/>
        <a:p>
          <a:endParaRPr lang="en-US"/>
        </a:p>
      </dgm:t>
    </dgm:pt>
    <dgm:pt modelId="{2255B405-C1B7-4EC0-8E89-A2B2100FD49D}" type="sibTrans" cxnId="{3BE1D559-FD80-42AC-8841-3BFF83E3858A}">
      <dgm:prSet/>
      <dgm:spPr/>
      <dgm:t>
        <a:bodyPr/>
        <a:lstStyle/>
        <a:p>
          <a:endParaRPr lang="en-US"/>
        </a:p>
      </dgm:t>
    </dgm:pt>
    <dgm:pt modelId="{58299A22-76FF-4D6A-B224-4318F6695525}" type="pres">
      <dgm:prSet presAssocID="{0816A21D-C73C-4AFD-800A-ED5A89AAE0D3}" presName="outerComposite" presStyleCnt="0">
        <dgm:presLayoutVars>
          <dgm:chMax val="5"/>
          <dgm:dir/>
          <dgm:resizeHandles val="exact"/>
        </dgm:presLayoutVars>
      </dgm:prSet>
      <dgm:spPr/>
    </dgm:pt>
    <dgm:pt modelId="{5C014203-ECCF-42F8-9C83-1DD97E538D42}" type="pres">
      <dgm:prSet presAssocID="{0816A21D-C73C-4AFD-800A-ED5A89AAE0D3}" presName="dummyMaxCanvas" presStyleCnt="0">
        <dgm:presLayoutVars/>
      </dgm:prSet>
      <dgm:spPr/>
    </dgm:pt>
    <dgm:pt modelId="{5BE84673-EB80-4F4B-8F36-0ADFDC02D22B}" type="pres">
      <dgm:prSet presAssocID="{0816A21D-C73C-4AFD-800A-ED5A89AAE0D3}" presName="FiveNodes_1" presStyleLbl="node1" presStyleIdx="0" presStyleCnt="5">
        <dgm:presLayoutVars>
          <dgm:bulletEnabled val="1"/>
        </dgm:presLayoutVars>
      </dgm:prSet>
      <dgm:spPr/>
    </dgm:pt>
    <dgm:pt modelId="{067923CB-F3D2-47D0-9326-A605E2FF724C}" type="pres">
      <dgm:prSet presAssocID="{0816A21D-C73C-4AFD-800A-ED5A89AAE0D3}" presName="FiveNodes_2" presStyleLbl="node1" presStyleIdx="1" presStyleCnt="5">
        <dgm:presLayoutVars>
          <dgm:bulletEnabled val="1"/>
        </dgm:presLayoutVars>
      </dgm:prSet>
      <dgm:spPr/>
    </dgm:pt>
    <dgm:pt modelId="{9D1BDE5F-A97F-4C64-B690-13FA2901A1BE}" type="pres">
      <dgm:prSet presAssocID="{0816A21D-C73C-4AFD-800A-ED5A89AAE0D3}" presName="FiveNodes_3" presStyleLbl="node1" presStyleIdx="2" presStyleCnt="5">
        <dgm:presLayoutVars>
          <dgm:bulletEnabled val="1"/>
        </dgm:presLayoutVars>
      </dgm:prSet>
      <dgm:spPr/>
    </dgm:pt>
    <dgm:pt modelId="{2B80BE79-1D4D-410A-A45C-2D328C458683}" type="pres">
      <dgm:prSet presAssocID="{0816A21D-C73C-4AFD-800A-ED5A89AAE0D3}" presName="FiveNodes_4" presStyleLbl="node1" presStyleIdx="3" presStyleCnt="5">
        <dgm:presLayoutVars>
          <dgm:bulletEnabled val="1"/>
        </dgm:presLayoutVars>
      </dgm:prSet>
      <dgm:spPr/>
    </dgm:pt>
    <dgm:pt modelId="{E220C21F-4703-4058-B914-49FA2200373A}" type="pres">
      <dgm:prSet presAssocID="{0816A21D-C73C-4AFD-800A-ED5A89AAE0D3}" presName="FiveNodes_5" presStyleLbl="node1" presStyleIdx="4" presStyleCnt="5">
        <dgm:presLayoutVars>
          <dgm:bulletEnabled val="1"/>
        </dgm:presLayoutVars>
      </dgm:prSet>
      <dgm:spPr/>
    </dgm:pt>
    <dgm:pt modelId="{FD53FE93-4D48-4444-9EA5-489553F5AE79}" type="pres">
      <dgm:prSet presAssocID="{0816A21D-C73C-4AFD-800A-ED5A89AAE0D3}" presName="FiveConn_1-2" presStyleLbl="fgAccFollowNode1" presStyleIdx="0" presStyleCnt="4">
        <dgm:presLayoutVars>
          <dgm:bulletEnabled val="1"/>
        </dgm:presLayoutVars>
      </dgm:prSet>
      <dgm:spPr/>
    </dgm:pt>
    <dgm:pt modelId="{7C5B30FB-4CB6-46BB-9EF9-2C24575A5871}" type="pres">
      <dgm:prSet presAssocID="{0816A21D-C73C-4AFD-800A-ED5A89AAE0D3}" presName="FiveConn_2-3" presStyleLbl="fgAccFollowNode1" presStyleIdx="1" presStyleCnt="4">
        <dgm:presLayoutVars>
          <dgm:bulletEnabled val="1"/>
        </dgm:presLayoutVars>
      </dgm:prSet>
      <dgm:spPr/>
    </dgm:pt>
    <dgm:pt modelId="{E1895750-74CC-4908-8889-B0571CB87782}" type="pres">
      <dgm:prSet presAssocID="{0816A21D-C73C-4AFD-800A-ED5A89AAE0D3}" presName="FiveConn_3-4" presStyleLbl="fgAccFollowNode1" presStyleIdx="2" presStyleCnt="4">
        <dgm:presLayoutVars>
          <dgm:bulletEnabled val="1"/>
        </dgm:presLayoutVars>
      </dgm:prSet>
      <dgm:spPr/>
    </dgm:pt>
    <dgm:pt modelId="{979DC80B-A474-45B6-9862-6D1C0B468514}" type="pres">
      <dgm:prSet presAssocID="{0816A21D-C73C-4AFD-800A-ED5A89AAE0D3}" presName="FiveConn_4-5" presStyleLbl="fgAccFollowNode1" presStyleIdx="3" presStyleCnt="4">
        <dgm:presLayoutVars>
          <dgm:bulletEnabled val="1"/>
        </dgm:presLayoutVars>
      </dgm:prSet>
      <dgm:spPr/>
    </dgm:pt>
    <dgm:pt modelId="{787443F8-83AB-4AF7-B117-5E3026955275}" type="pres">
      <dgm:prSet presAssocID="{0816A21D-C73C-4AFD-800A-ED5A89AAE0D3}" presName="FiveNodes_1_text" presStyleLbl="node1" presStyleIdx="4" presStyleCnt="5">
        <dgm:presLayoutVars>
          <dgm:bulletEnabled val="1"/>
        </dgm:presLayoutVars>
      </dgm:prSet>
      <dgm:spPr/>
    </dgm:pt>
    <dgm:pt modelId="{B6CF3B9B-41F6-4497-B67C-0192325B56BF}" type="pres">
      <dgm:prSet presAssocID="{0816A21D-C73C-4AFD-800A-ED5A89AAE0D3}" presName="FiveNodes_2_text" presStyleLbl="node1" presStyleIdx="4" presStyleCnt="5">
        <dgm:presLayoutVars>
          <dgm:bulletEnabled val="1"/>
        </dgm:presLayoutVars>
      </dgm:prSet>
      <dgm:spPr/>
    </dgm:pt>
    <dgm:pt modelId="{6FD0E38B-4423-49B4-9969-C104AFF5DB06}" type="pres">
      <dgm:prSet presAssocID="{0816A21D-C73C-4AFD-800A-ED5A89AAE0D3}" presName="FiveNodes_3_text" presStyleLbl="node1" presStyleIdx="4" presStyleCnt="5">
        <dgm:presLayoutVars>
          <dgm:bulletEnabled val="1"/>
        </dgm:presLayoutVars>
      </dgm:prSet>
      <dgm:spPr/>
    </dgm:pt>
    <dgm:pt modelId="{51059EF6-3099-4209-8616-AE1363492121}" type="pres">
      <dgm:prSet presAssocID="{0816A21D-C73C-4AFD-800A-ED5A89AAE0D3}" presName="FiveNodes_4_text" presStyleLbl="node1" presStyleIdx="4" presStyleCnt="5">
        <dgm:presLayoutVars>
          <dgm:bulletEnabled val="1"/>
        </dgm:presLayoutVars>
      </dgm:prSet>
      <dgm:spPr/>
    </dgm:pt>
    <dgm:pt modelId="{BE4F6AC4-C031-41DE-A069-0FF2B94F637B}" type="pres">
      <dgm:prSet presAssocID="{0816A21D-C73C-4AFD-800A-ED5A89AAE0D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D26F306-3A06-426F-B1A0-DD5F0FCD309C}" srcId="{0816A21D-C73C-4AFD-800A-ED5A89AAE0D3}" destId="{CFA628A7-4A2D-4ACD-9739-7E27EEF7BF58}" srcOrd="2" destOrd="0" parTransId="{E30A3FBC-FAD0-44FF-96EF-49C2A94B4531}" sibTransId="{4C790587-680A-4D60-9BA0-672878C069AA}"/>
    <dgm:cxn modelId="{80F9FD0B-6A18-488A-9399-02E9BB507E16}" type="presOf" srcId="{9B5C49D7-B191-4307-8449-85B065C1E8F7}" destId="{FD53FE93-4D48-4444-9EA5-489553F5AE79}" srcOrd="0" destOrd="0" presId="urn:microsoft.com/office/officeart/2005/8/layout/vProcess5"/>
    <dgm:cxn modelId="{5FED9523-6C16-495A-A709-665833F12182}" type="presOf" srcId="{C4E2BF4C-3810-44A0-9677-9DAAE18F4225}" destId="{2B80BE79-1D4D-410A-A45C-2D328C458683}" srcOrd="0" destOrd="0" presId="urn:microsoft.com/office/officeart/2005/8/layout/vProcess5"/>
    <dgm:cxn modelId="{DDDEC824-ED29-48D7-AC49-97E6CE7008B5}" type="presOf" srcId="{618BC6AD-77A8-4931-B12A-122C9FE43779}" destId="{067923CB-F3D2-47D0-9326-A605E2FF724C}" srcOrd="0" destOrd="0" presId="urn:microsoft.com/office/officeart/2005/8/layout/vProcess5"/>
    <dgm:cxn modelId="{824F9726-A1A8-48A8-86F0-538F1E26B0A7}" type="presOf" srcId="{E4C1028C-DC52-494C-AC91-DBC657DA832D}" destId="{787443F8-83AB-4AF7-B117-5E3026955275}" srcOrd="1" destOrd="0" presId="urn:microsoft.com/office/officeart/2005/8/layout/vProcess5"/>
    <dgm:cxn modelId="{4ABC2228-3677-42CB-A0AB-49C1C64482DE}" type="presOf" srcId="{21960BD6-F65C-4C37-AF3D-E6DD18E60025}" destId="{7C5B30FB-4CB6-46BB-9EF9-2C24575A5871}" srcOrd="0" destOrd="0" presId="urn:microsoft.com/office/officeart/2005/8/layout/vProcess5"/>
    <dgm:cxn modelId="{37A4B439-A57F-4AFB-B596-EC039025C5B0}" type="presOf" srcId="{E4C1028C-DC52-494C-AC91-DBC657DA832D}" destId="{5BE84673-EB80-4F4B-8F36-0ADFDC02D22B}" srcOrd="0" destOrd="0" presId="urn:microsoft.com/office/officeart/2005/8/layout/vProcess5"/>
    <dgm:cxn modelId="{3E2A324B-33FB-4125-9DB1-EDEF2B343FD9}" type="presOf" srcId="{1693E0E4-0BA1-4911-BDB8-7BFC04BE1DE2}" destId="{979DC80B-A474-45B6-9862-6D1C0B468514}" srcOrd="0" destOrd="0" presId="urn:microsoft.com/office/officeart/2005/8/layout/vProcess5"/>
    <dgm:cxn modelId="{DFB56F53-9786-478C-97F7-D2206882952A}" type="presOf" srcId="{417DBCF5-1A79-4E96-9D0C-ACE8C02E36E7}" destId="{E220C21F-4703-4058-B914-49FA2200373A}" srcOrd="0" destOrd="0" presId="urn:microsoft.com/office/officeart/2005/8/layout/vProcess5"/>
    <dgm:cxn modelId="{D391DD54-BA22-43D1-92AF-6627448A1E7E}" type="presOf" srcId="{0816A21D-C73C-4AFD-800A-ED5A89AAE0D3}" destId="{58299A22-76FF-4D6A-B224-4318F6695525}" srcOrd="0" destOrd="0" presId="urn:microsoft.com/office/officeart/2005/8/layout/vProcess5"/>
    <dgm:cxn modelId="{3BE1D559-FD80-42AC-8841-3BFF83E3858A}" srcId="{0816A21D-C73C-4AFD-800A-ED5A89AAE0D3}" destId="{417DBCF5-1A79-4E96-9D0C-ACE8C02E36E7}" srcOrd="4" destOrd="0" parTransId="{B4453DB3-7433-4B90-86FA-B959BB551CBA}" sibTransId="{2255B405-C1B7-4EC0-8E89-A2B2100FD49D}"/>
    <dgm:cxn modelId="{923D477A-8117-4C9A-82E6-DE40F2A6212A}" type="presOf" srcId="{CFA628A7-4A2D-4ACD-9739-7E27EEF7BF58}" destId="{6FD0E38B-4423-49B4-9969-C104AFF5DB06}" srcOrd="1" destOrd="0" presId="urn:microsoft.com/office/officeart/2005/8/layout/vProcess5"/>
    <dgm:cxn modelId="{B32A5D96-A10A-44F5-9A00-3287681C78C6}" type="presOf" srcId="{417DBCF5-1A79-4E96-9D0C-ACE8C02E36E7}" destId="{BE4F6AC4-C031-41DE-A069-0FF2B94F637B}" srcOrd="1" destOrd="0" presId="urn:microsoft.com/office/officeart/2005/8/layout/vProcess5"/>
    <dgm:cxn modelId="{BDA2F89B-9152-4A4F-AE94-016A3B7D3DE2}" srcId="{0816A21D-C73C-4AFD-800A-ED5A89AAE0D3}" destId="{E4C1028C-DC52-494C-AC91-DBC657DA832D}" srcOrd="0" destOrd="0" parTransId="{51BC3AC4-119E-4B15-8C98-21AD0CF922D2}" sibTransId="{9B5C49D7-B191-4307-8449-85B065C1E8F7}"/>
    <dgm:cxn modelId="{C8A4E5B3-C7FE-43E2-8D79-61AA4DD63A07}" type="presOf" srcId="{618BC6AD-77A8-4931-B12A-122C9FE43779}" destId="{B6CF3B9B-41F6-4497-B67C-0192325B56BF}" srcOrd="1" destOrd="0" presId="urn:microsoft.com/office/officeart/2005/8/layout/vProcess5"/>
    <dgm:cxn modelId="{62B651C7-AFE5-49EE-ACC1-83C7F1304DD8}" type="presOf" srcId="{C4E2BF4C-3810-44A0-9677-9DAAE18F4225}" destId="{51059EF6-3099-4209-8616-AE1363492121}" srcOrd="1" destOrd="0" presId="urn:microsoft.com/office/officeart/2005/8/layout/vProcess5"/>
    <dgm:cxn modelId="{C0FB9EC8-AAFA-431B-8949-5F32FB126C6A}" srcId="{0816A21D-C73C-4AFD-800A-ED5A89AAE0D3}" destId="{C4E2BF4C-3810-44A0-9677-9DAAE18F4225}" srcOrd="3" destOrd="0" parTransId="{D6853561-F14E-4608-AD6D-A8F43D0C777E}" sibTransId="{1693E0E4-0BA1-4911-BDB8-7BFC04BE1DE2}"/>
    <dgm:cxn modelId="{89575FD2-2B13-4BAA-AC60-9116A56252BC}" type="presOf" srcId="{CFA628A7-4A2D-4ACD-9739-7E27EEF7BF58}" destId="{9D1BDE5F-A97F-4C64-B690-13FA2901A1BE}" srcOrd="0" destOrd="0" presId="urn:microsoft.com/office/officeart/2005/8/layout/vProcess5"/>
    <dgm:cxn modelId="{3CBD41D3-75F9-479A-92D1-FE5B20A87219}" srcId="{0816A21D-C73C-4AFD-800A-ED5A89AAE0D3}" destId="{618BC6AD-77A8-4931-B12A-122C9FE43779}" srcOrd="1" destOrd="0" parTransId="{875B5D90-A006-4E75-BEB8-BC03689AC898}" sibTransId="{21960BD6-F65C-4C37-AF3D-E6DD18E60025}"/>
    <dgm:cxn modelId="{3AE284E4-B88B-48DA-B40D-1EFE3279414B}" type="presOf" srcId="{4C790587-680A-4D60-9BA0-672878C069AA}" destId="{E1895750-74CC-4908-8889-B0571CB87782}" srcOrd="0" destOrd="0" presId="urn:microsoft.com/office/officeart/2005/8/layout/vProcess5"/>
    <dgm:cxn modelId="{BB1D9E43-7F53-4EC7-A35A-E699D0C93168}" type="presParOf" srcId="{58299A22-76FF-4D6A-B224-4318F6695525}" destId="{5C014203-ECCF-42F8-9C83-1DD97E538D42}" srcOrd="0" destOrd="0" presId="urn:microsoft.com/office/officeart/2005/8/layout/vProcess5"/>
    <dgm:cxn modelId="{AA305F13-28EE-4200-B57C-A9D4AFD102F5}" type="presParOf" srcId="{58299A22-76FF-4D6A-B224-4318F6695525}" destId="{5BE84673-EB80-4F4B-8F36-0ADFDC02D22B}" srcOrd="1" destOrd="0" presId="urn:microsoft.com/office/officeart/2005/8/layout/vProcess5"/>
    <dgm:cxn modelId="{FFA917BF-2C12-4144-9896-9DC5CFFCCACE}" type="presParOf" srcId="{58299A22-76FF-4D6A-B224-4318F6695525}" destId="{067923CB-F3D2-47D0-9326-A605E2FF724C}" srcOrd="2" destOrd="0" presId="urn:microsoft.com/office/officeart/2005/8/layout/vProcess5"/>
    <dgm:cxn modelId="{3BFC06DC-49F1-4447-9625-3A81F2534840}" type="presParOf" srcId="{58299A22-76FF-4D6A-B224-4318F6695525}" destId="{9D1BDE5F-A97F-4C64-B690-13FA2901A1BE}" srcOrd="3" destOrd="0" presId="urn:microsoft.com/office/officeart/2005/8/layout/vProcess5"/>
    <dgm:cxn modelId="{42EC7174-45B8-492A-85A8-40FF1D410AFE}" type="presParOf" srcId="{58299A22-76FF-4D6A-B224-4318F6695525}" destId="{2B80BE79-1D4D-410A-A45C-2D328C458683}" srcOrd="4" destOrd="0" presId="urn:microsoft.com/office/officeart/2005/8/layout/vProcess5"/>
    <dgm:cxn modelId="{90AD277D-5B0A-48A0-A4B2-D2FB8BCEFED7}" type="presParOf" srcId="{58299A22-76FF-4D6A-B224-4318F6695525}" destId="{E220C21F-4703-4058-B914-49FA2200373A}" srcOrd="5" destOrd="0" presId="urn:microsoft.com/office/officeart/2005/8/layout/vProcess5"/>
    <dgm:cxn modelId="{094933BC-EDD3-4F4B-9E10-D6683603195C}" type="presParOf" srcId="{58299A22-76FF-4D6A-B224-4318F6695525}" destId="{FD53FE93-4D48-4444-9EA5-489553F5AE79}" srcOrd="6" destOrd="0" presId="urn:microsoft.com/office/officeart/2005/8/layout/vProcess5"/>
    <dgm:cxn modelId="{CAA4B61C-E0ED-4B97-85A0-2BB76AE765DD}" type="presParOf" srcId="{58299A22-76FF-4D6A-B224-4318F6695525}" destId="{7C5B30FB-4CB6-46BB-9EF9-2C24575A5871}" srcOrd="7" destOrd="0" presId="urn:microsoft.com/office/officeart/2005/8/layout/vProcess5"/>
    <dgm:cxn modelId="{5DE7A51D-D5B9-4242-83DF-3A8E16C04575}" type="presParOf" srcId="{58299A22-76FF-4D6A-B224-4318F6695525}" destId="{E1895750-74CC-4908-8889-B0571CB87782}" srcOrd="8" destOrd="0" presId="urn:microsoft.com/office/officeart/2005/8/layout/vProcess5"/>
    <dgm:cxn modelId="{C2ACE46B-68C5-4E97-9D04-DAA4A4FF3DFE}" type="presParOf" srcId="{58299A22-76FF-4D6A-B224-4318F6695525}" destId="{979DC80B-A474-45B6-9862-6D1C0B468514}" srcOrd="9" destOrd="0" presId="urn:microsoft.com/office/officeart/2005/8/layout/vProcess5"/>
    <dgm:cxn modelId="{2CC53BC5-AFF5-4C30-B03D-BF4D223EE20A}" type="presParOf" srcId="{58299A22-76FF-4D6A-B224-4318F6695525}" destId="{787443F8-83AB-4AF7-B117-5E3026955275}" srcOrd="10" destOrd="0" presId="urn:microsoft.com/office/officeart/2005/8/layout/vProcess5"/>
    <dgm:cxn modelId="{0EBFBC1E-A583-440E-BFFB-C6788B29A199}" type="presParOf" srcId="{58299A22-76FF-4D6A-B224-4318F6695525}" destId="{B6CF3B9B-41F6-4497-B67C-0192325B56BF}" srcOrd="11" destOrd="0" presId="urn:microsoft.com/office/officeart/2005/8/layout/vProcess5"/>
    <dgm:cxn modelId="{C8733F38-B116-4802-950B-515A3EDFD21E}" type="presParOf" srcId="{58299A22-76FF-4D6A-B224-4318F6695525}" destId="{6FD0E38B-4423-49B4-9969-C104AFF5DB06}" srcOrd="12" destOrd="0" presId="urn:microsoft.com/office/officeart/2005/8/layout/vProcess5"/>
    <dgm:cxn modelId="{3D2350B7-F56E-410D-9688-856393E0E1C5}" type="presParOf" srcId="{58299A22-76FF-4D6A-B224-4318F6695525}" destId="{51059EF6-3099-4209-8616-AE1363492121}" srcOrd="13" destOrd="0" presId="urn:microsoft.com/office/officeart/2005/8/layout/vProcess5"/>
    <dgm:cxn modelId="{6F2EF35D-E8C0-4DCB-AAD4-05020F74EA73}" type="presParOf" srcId="{58299A22-76FF-4D6A-B224-4318F6695525}" destId="{BE4F6AC4-C031-41DE-A069-0FF2B94F637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13DF9-2F5D-4B14-AF56-9CFEF707E555}">
      <dsp:nvSpPr>
        <dsp:cNvPr id="0" name=""/>
        <dsp:cNvSpPr/>
      </dsp:nvSpPr>
      <dsp:spPr>
        <a:xfrm>
          <a:off x="7941" y="437383"/>
          <a:ext cx="328630" cy="2412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01024-C614-4FBF-B4DD-007BCB291FC4}">
      <dsp:nvSpPr>
        <dsp:cNvPr id="0" name=""/>
        <dsp:cNvSpPr/>
      </dsp:nvSpPr>
      <dsp:spPr>
        <a:xfrm>
          <a:off x="7941" y="782177"/>
          <a:ext cx="938944" cy="977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400" b="1" kern="1200" dirty="0">
              <a:latin typeface="Aptos" panose="020B0004020202020204" pitchFamily="34" charset="0"/>
            </a:rPr>
            <a:t>Product category: </a:t>
          </a:r>
          <a:r>
            <a:rPr lang="en-AU" sz="1400" kern="1200" dirty="0">
              <a:latin typeface="Aptos" panose="020B0004020202020204" pitchFamily="34" charset="0"/>
            </a:rPr>
            <a:t>Plant-based burgers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7941" y="782177"/>
        <a:ext cx="938944" cy="977645"/>
      </dsp:txXfrm>
    </dsp:sp>
    <dsp:sp modelId="{77B2B4AA-671F-44C6-AB08-983948B99AFD}">
      <dsp:nvSpPr>
        <dsp:cNvPr id="0" name=""/>
        <dsp:cNvSpPr/>
      </dsp:nvSpPr>
      <dsp:spPr>
        <a:xfrm>
          <a:off x="7941" y="1807969"/>
          <a:ext cx="938944" cy="103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535A8A-6AC0-41BF-9890-D7F8C5992B6A}">
      <dsp:nvSpPr>
        <dsp:cNvPr id="0" name=""/>
        <dsp:cNvSpPr/>
      </dsp:nvSpPr>
      <dsp:spPr>
        <a:xfrm>
          <a:off x="1111201" y="437383"/>
          <a:ext cx="328630" cy="2412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C20A1-50A9-435B-A243-F6C4DC6972A2}">
      <dsp:nvSpPr>
        <dsp:cNvPr id="0" name=""/>
        <dsp:cNvSpPr/>
      </dsp:nvSpPr>
      <dsp:spPr>
        <a:xfrm>
          <a:off x="1111201" y="782177"/>
          <a:ext cx="938944" cy="977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400" b="1" kern="1200">
              <a:latin typeface="Aptos" panose="020B0004020202020204" pitchFamily="34" charset="0"/>
            </a:rPr>
            <a:t>Brand: </a:t>
          </a:r>
          <a:r>
            <a:rPr lang="en-AU" sz="1400" kern="1200">
              <a:latin typeface="Aptos" panose="020B0004020202020204" pitchFamily="34" charset="0"/>
            </a:rPr>
            <a:t>McDonald’s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1111201" y="782177"/>
        <a:ext cx="938944" cy="977645"/>
      </dsp:txXfrm>
    </dsp:sp>
    <dsp:sp modelId="{4F2EE435-45F3-488A-AABB-EBB0A81ACE98}">
      <dsp:nvSpPr>
        <dsp:cNvPr id="0" name=""/>
        <dsp:cNvSpPr/>
      </dsp:nvSpPr>
      <dsp:spPr>
        <a:xfrm>
          <a:off x="1111201" y="1807969"/>
          <a:ext cx="938944" cy="103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1CA91-8589-4B37-8A3A-7745F6462469}">
      <dsp:nvSpPr>
        <dsp:cNvPr id="0" name=""/>
        <dsp:cNvSpPr/>
      </dsp:nvSpPr>
      <dsp:spPr>
        <a:xfrm>
          <a:off x="2214461" y="437383"/>
          <a:ext cx="328630" cy="2412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AC157-3925-43E0-84F2-EEEB34C44D0C}">
      <dsp:nvSpPr>
        <dsp:cNvPr id="0" name=""/>
        <dsp:cNvSpPr/>
      </dsp:nvSpPr>
      <dsp:spPr>
        <a:xfrm>
          <a:off x="2214461" y="782177"/>
          <a:ext cx="938944" cy="977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400" b="1" kern="1200">
              <a:latin typeface="Aptos" panose="020B0004020202020204" pitchFamily="34" charset="0"/>
            </a:rPr>
            <a:t>Attributes and Levels: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2214461" y="782177"/>
        <a:ext cx="938944" cy="977645"/>
      </dsp:txXfrm>
    </dsp:sp>
    <dsp:sp modelId="{F2973024-0D4B-468E-A379-0379808BD699}">
      <dsp:nvSpPr>
        <dsp:cNvPr id="0" name=""/>
        <dsp:cNvSpPr/>
      </dsp:nvSpPr>
      <dsp:spPr>
        <a:xfrm>
          <a:off x="2214461" y="1807969"/>
          <a:ext cx="938944" cy="103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>
              <a:latin typeface="Aptos" panose="020B0004020202020204" pitchFamily="34" charset="0"/>
            </a:rPr>
            <a:t>Patty Type</a:t>
          </a:r>
          <a:r>
            <a:rPr lang="en-AU" sz="1100" kern="1200">
              <a:latin typeface="Aptos" panose="020B0004020202020204" pitchFamily="34" charset="0"/>
            </a:rPr>
            <a:t>: Paneer, Potato, Cauliflower, Soy</a:t>
          </a:r>
          <a:endParaRPr lang="en-US" sz="1100" kern="120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>
              <a:latin typeface="Aptos" panose="020B0004020202020204" pitchFamily="34" charset="0"/>
            </a:rPr>
            <a:t>Bread Type: </a:t>
          </a:r>
          <a:r>
            <a:rPr lang="en-AU" sz="1100" kern="1200">
              <a:latin typeface="Aptos" panose="020B0004020202020204" pitchFamily="34" charset="0"/>
            </a:rPr>
            <a:t>Multigrain, Brioche, Whole Wheat, Gluten Free</a:t>
          </a:r>
          <a:endParaRPr lang="en-US" sz="1100" kern="120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>
              <a:latin typeface="Aptos" panose="020B0004020202020204" pitchFamily="34" charset="0"/>
            </a:rPr>
            <a:t>Number of Patties: </a:t>
          </a:r>
          <a:r>
            <a:rPr lang="en-AU" sz="1100" kern="1200">
              <a:latin typeface="Aptos" panose="020B0004020202020204" pitchFamily="34" charset="0"/>
            </a:rPr>
            <a:t>Single, Double</a:t>
          </a:r>
          <a:endParaRPr lang="en-US" sz="1100" kern="120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>
              <a:latin typeface="Aptos" panose="020B0004020202020204" pitchFamily="34" charset="0"/>
            </a:rPr>
            <a:t>Price: </a:t>
          </a:r>
          <a:r>
            <a:rPr lang="en-AU" sz="1100" kern="1200">
              <a:latin typeface="Aptos" panose="020B0004020202020204" pitchFamily="34" charset="0"/>
            </a:rPr>
            <a:t>$8.95, $11.95</a:t>
          </a:r>
          <a:endParaRPr lang="en-US" sz="1100" kern="1200">
            <a:latin typeface="Aptos" panose="020B0004020202020204" pitchFamily="34" charset="0"/>
          </a:endParaRPr>
        </a:p>
      </dsp:txBody>
      <dsp:txXfrm>
        <a:off x="2214461" y="1807969"/>
        <a:ext cx="938944" cy="1036760"/>
      </dsp:txXfrm>
    </dsp:sp>
    <dsp:sp modelId="{149A13E9-2CDA-4738-8C7E-1548D746298C}">
      <dsp:nvSpPr>
        <dsp:cNvPr id="0" name=""/>
        <dsp:cNvSpPr/>
      </dsp:nvSpPr>
      <dsp:spPr>
        <a:xfrm>
          <a:off x="3317721" y="437383"/>
          <a:ext cx="328630" cy="2412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B5FEE-84D8-4584-B0CF-9901D337E3C4}">
      <dsp:nvSpPr>
        <dsp:cNvPr id="0" name=""/>
        <dsp:cNvSpPr/>
      </dsp:nvSpPr>
      <dsp:spPr>
        <a:xfrm>
          <a:off x="3317721" y="782177"/>
          <a:ext cx="938944" cy="977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400" kern="1200">
              <a:latin typeface="Aptos" panose="020B0004020202020204" pitchFamily="34" charset="0"/>
            </a:rPr>
            <a:t>Full profile conjoint with </a:t>
          </a:r>
          <a:r>
            <a:rPr lang="en-AU" sz="1400" b="1" kern="1200">
              <a:latin typeface="Aptos" panose="020B0004020202020204" pitchFamily="34" charset="0"/>
            </a:rPr>
            <a:t>9 product profiles </a:t>
          </a:r>
          <a:r>
            <a:rPr lang="en-AU" sz="1400" kern="1200">
              <a:latin typeface="Aptos" panose="020B0004020202020204" pitchFamily="34" charset="0"/>
            </a:rPr>
            <a:t>evaluated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3317721" y="782177"/>
        <a:ext cx="938944" cy="977645"/>
      </dsp:txXfrm>
    </dsp:sp>
    <dsp:sp modelId="{B66DA998-C1FF-4CFF-BC2C-886324D9E81F}">
      <dsp:nvSpPr>
        <dsp:cNvPr id="0" name=""/>
        <dsp:cNvSpPr/>
      </dsp:nvSpPr>
      <dsp:spPr>
        <a:xfrm>
          <a:off x="3317721" y="1807969"/>
          <a:ext cx="938944" cy="103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6BF1B-3B1C-417F-900F-9924A1E75C8B}">
      <dsp:nvSpPr>
        <dsp:cNvPr id="0" name=""/>
        <dsp:cNvSpPr/>
      </dsp:nvSpPr>
      <dsp:spPr>
        <a:xfrm>
          <a:off x="4420981" y="437383"/>
          <a:ext cx="328630" cy="2412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C8C0C-1E48-451C-B795-BE79C76658D5}">
      <dsp:nvSpPr>
        <dsp:cNvPr id="0" name=""/>
        <dsp:cNvSpPr/>
      </dsp:nvSpPr>
      <dsp:spPr>
        <a:xfrm>
          <a:off x="4420981" y="782177"/>
          <a:ext cx="938944" cy="977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>
              <a:latin typeface="Aptos" panose="020B0004020202020204" pitchFamily="34" charset="0"/>
            </a:rPr>
            <a:t>Tool used</a:t>
          </a:r>
          <a:r>
            <a:rPr lang="en-GB" sz="1400" kern="1200">
              <a:latin typeface="Aptos" panose="020B0004020202020204" pitchFamily="34" charset="0"/>
            </a:rPr>
            <a:t>: Qualtrics (for data collection)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4420981" y="782177"/>
        <a:ext cx="938944" cy="977645"/>
      </dsp:txXfrm>
    </dsp:sp>
    <dsp:sp modelId="{74E879F5-0126-4D57-A7B7-5D8929140AA1}">
      <dsp:nvSpPr>
        <dsp:cNvPr id="0" name=""/>
        <dsp:cNvSpPr/>
      </dsp:nvSpPr>
      <dsp:spPr>
        <a:xfrm>
          <a:off x="4420981" y="1807969"/>
          <a:ext cx="938944" cy="103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7EE93-AA96-4599-A903-8971E60A21B4}">
      <dsp:nvSpPr>
        <dsp:cNvPr id="0" name=""/>
        <dsp:cNvSpPr/>
      </dsp:nvSpPr>
      <dsp:spPr>
        <a:xfrm>
          <a:off x="2272453" y="2235"/>
          <a:ext cx="9089812" cy="9809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85BE2-BE6B-4B7C-B97E-F315E1EBE771}">
      <dsp:nvSpPr>
        <dsp:cNvPr id="0" name=""/>
        <dsp:cNvSpPr/>
      </dsp:nvSpPr>
      <dsp:spPr>
        <a:xfrm>
          <a:off x="0" y="2235"/>
          <a:ext cx="2272453" cy="980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251" tIns="96899" rIns="120251" bIns="9689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latin typeface="Aptos" panose="020B0004020202020204" pitchFamily="34" charset="0"/>
            </a:rPr>
            <a:t>Size</a:t>
          </a:r>
          <a:r>
            <a:rPr lang="en-GB" sz="1400" kern="1200">
              <a:latin typeface="Aptos" panose="020B0004020202020204" pitchFamily="34" charset="0"/>
            </a:rPr>
            <a:t>: 40 respondents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0" y="2235"/>
        <a:ext cx="2272453" cy="980974"/>
      </dsp:txXfrm>
    </dsp:sp>
    <dsp:sp modelId="{F068B435-F0F1-419B-B335-80E7966C068F}">
      <dsp:nvSpPr>
        <dsp:cNvPr id="0" name=""/>
        <dsp:cNvSpPr/>
      </dsp:nvSpPr>
      <dsp:spPr>
        <a:xfrm>
          <a:off x="2272453" y="1042068"/>
          <a:ext cx="9089812" cy="9809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38080-2DDA-44BC-9975-EC943F799084}">
      <dsp:nvSpPr>
        <dsp:cNvPr id="0" name=""/>
        <dsp:cNvSpPr/>
      </dsp:nvSpPr>
      <dsp:spPr>
        <a:xfrm>
          <a:off x="0" y="1042068"/>
          <a:ext cx="2272453" cy="980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251" tIns="96899" rIns="120251" bIns="9689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latin typeface="Aptos" panose="020B0004020202020204" pitchFamily="34" charset="0"/>
            </a:rPr>
            <a:t>Demographics</a:t>
          </a:r>
          <a:r>
            <a:rPr lang="en-GB" sz="1400" kern="1200">
              <a:latin typeface="Aptos" panose="020B0004020202020204" pitchFamily="34" charset="0"/>
            </a:rPr>
            <a:t>: Predominantly 18–34 years old; mix of students and young professionals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0" y="1042068"/>
        <a:ext cx="2272453" cy="980974"/>
      </dsp:txXfrm>
    </dsp:sp>
    <dsp:sp modelId="{94D453F2-F1CF-4571-B0BB-2F4BFFD317CC}">
      <dsp:nvSpPr>
        <dsp:cNvPr id="0" name=""/>
        <dsp:cNvSpPr/>
      </dsp:nvSpPr>
      <dsp:spPr>
        <a:xfrm>
          <a:off x="2272453" y="2081902"/>
          <a:ext cx="9089812" cy="9809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368" tIns="249168" rIns="176368" bIns="24916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Aptos" panose="020B0004020202020204" pitchFamily="34" charset="0"/>
            </a:rPr>
            <a:t>Strong affinity for </a:t>
          </a:r>
          <a:r>
            <a:rPr lang="en-GB" sz="1100" b="1" kern="1200">
              <a:latin typeface="Aptos" panose="020B0004020202020204" pitchFamily="34" charset="0"/>
            </a:rPr>
            <a:t>Paneer</a:t>
          </a:r>
          <a:r>
            <a:rPr lang="en-GB" sz="1100" kern="1200">
              <a:latin typeface="Aptos" panose="020B0004020202020204" pitchFamily="34" charset="0"/>
            </a:rPr>
            <a:t> and </a:t>
          </a:r>
          <a:r>
            <a:rPr lang="en-GB" sz="1100" b="1" kern="1200">
              <a:latin typeface="Aptos" panose="020B0004020202020204" pitchFamily="34" charset="0"/>
            </a:rPr>
            <a:t>Potato</a:t>
          </a:r>
          <a:r>
            <a:rPr lang="en-GB" sz="1100" kern="1200">
              <a:latin typeface="Aptos" panose="020B0004020202020204" pitchFamily="34" charset="0"/>
            </a:rPr>
            <a:t> patties</a:t>
          </a:r>
          <a:endParaRPr lang="en-US" sz="1100" kern="120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Aptos" panose="020B0004020202020204" pitchFamily="34" charset="0"/>
            </a:rPr>
            <a:t>Interest in </a:t>
          </a:r>
          <a:r>
            <a:rPr lang="en-GB" sz="1100" b="1" kern="1200">
              <a:latin typeface="Aptos" panose="020B0004020202020204" pitchFamily="34" charset="0"/>
            </a:rPr>
            <a:t>Gluten Free</a:t>
          </a:r>
          <a:r>
            <a:rPr lang="en-GB" sz="1100" kern="1200">
              <a:latin typeface="Aptos" panose="020B0004020202020204" pitchFamily="34" charset="0"/>
            </a:rPr>
            <a:t> and </a:t>
          </a:r>
          <a:r>
            <a:rPr lang="en-GB" sz="1100" b="1" kern="1200">
              <a:latin typeface="Aptos" panose="020B0004020202020204" pitchFamily="34" charset="0"/>
            </a:rPr>
            <a:t>Multigrain</a:t>
          </a:r>
          <a:r>
            <a:rPr lang="en-GB" sz="1100" kern="1200">
              <a:latin typeface="Aptos" panose="020B0004020202020204" pitchFamily="34" charset="0"/>
            </a:rPr>
            <a:t> bread</a:t>
          </a:r>
          <a:endParaRPr lang="en-US" sz="1100" kern="120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Aptos" panose="020B0004020202020204" pitchFamily="34" charset="0"/>
            </a:rPr>
            <a:t>Moderate preference for double patty but cost-sensitive</a:t>
          </a:r>
          <a:endParaRPr lang="en-US" sz="1100" kern="120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Aptos" panose="020B0004020202020204" pitchFamily="34" charset="0"/>
            </a:rPr>
            <a:t>Price sweet spot: </a:t>
          </a:r>
          <a:r>
            <a:rPr lang="en-GB" sz="1100" b="1" kern="1200">
              <a:latin typeface="Aptos" panose="020B0004020202020204" pitchFamily="34" charset="0"/>
            </a:rPr>
            <a:t>$10–$15</a:t>
          </a:r>
          <a:endParaRPr lang="en-US" sz="1100" kern="1200">
            <a:latin typeface="Aptos" panose="020B0004020202020204" pitchFamily="34" charset="0"/>
          </a:endParaRPr>
        </a:p>
      </dsp:txBody>
      <dsp:txXfrm>
        <a:off x="2272453" y="2081902"/>
        <a:ext cx="9089812" cy="980974"/>
      </dsp:txXfrm>
    </dsp:sp>
    <dsp:sp modelId="{ABC4EC12-3F80-46FB-AAA5-663754DDB851}">
      <dsp:nvSpPr>
        <dsp:cNvPr id="0" name=""/>
        <dsp:cNvSpPr/>
      </dsp:nvSpPr>
      <dsp:spPr>
        <a:xfrm>
          <a:off x="0" y="2081902"/>
          <a:ext cx="2272453" cy="980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251" tIns="96899" rIns="120251" bIns="9689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latin typeface="Aptos" panose="020B0004020202020204" pitchFamily="34" charset="0"/>
            </a:rPr>
            <a:t>Preferences</a:t>
          </a:r>
          <a:r>
            <a:rPr lang="en-GB" sz="1400" kern="1200">
              <a:latin typeface="Aptos" panose="020B0004020202020204" pitchFamily="34" charset="0"/>
            </a:rPr>
            <a:t>: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0" y="2081902"/>
        <a:ext cx="2272453" cy="980974"/>
      </dsp:txXfrm>
    </dsp:sp>
    <dsp:sp modelId="{D066957A-5B70-4E21-A8F7-10F36BC3DC2F}">
      <dsp:nvSpPr>
        <dsp:cNvPr id="0" name=""/>
        <dsp:cNvSpPr/>
      </dsp:nvSpPr>
      <dsp:spPr>
        <a:xfrm>
          <a:off x="2272453" y="3121735"/>
          <a:ext cx="9089812" cy="9809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368" tIns="249168" rIns="176368" bIns="24916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Aptos" panose="020B0004020202020204" pitchFamily="34" charset="0"/>
            </a:rPr>
            <a:t>Budget-conscious yet open to variety</a:t>
          </a:r>
          <a:endParaRPr lang="en-US" sz="1100" kern="1200" dirty="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Aptos" panose="020B0004020202020204" pitchFamily="34" charset="0"/>
            </a:rPr>
            <a:t>Looks for value meals and deals</a:t>
          </a:r>
          <a:endParaRPr lang="en-US" sz="1100" kern="120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Aptos" panose="020B0004020202020204" pitchFamily="34" charset="0"/>
            </a:rPr>
            <a:t>Strong brand familiarity with McDonald’s</a:t>
          </a:r>
          <a:endParaRPr lang="en-US" sz="1100" kern="1200">
            <a:latin typeface="Aptos" panose="020B0004020202020204" pitchFamily="34" charset="0"/>
          </a:endParaRPr>
        </a:p>
      </dsp:txBody>
      <dsp:txXfrm>
        <a:off x="2272453" y="3121735"/>
        <a:ext cx="9089812" cy="980974"/>
      </dsp:txXfrm>
    </dsp:sp>
    <dsp:sp modelId="{C4F53679-A50A-4D0C-B71D-8B34EA111DEA}">
      <dsp:nvSpPr>
        <dsp:cNvPr id="0" name=""/>
        <dsp:cNvSpPr/>
      </dsp:nvSpPr>
      <dsp:spPr>
        <a:xfrm>
          <a:off x="0" y="3121735"/>
          <a:ext cx="2272453" cy="980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251" tIns="96899" rIns="120251" bIns="9689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latin typeface="Aptos" panose="020B0004020202020204" pitchFamily="34" charset="0"/>
            </a:rPr>
            <a:t>Behavioural Traits</a:t>
          </a:r>
          <a:r>
            <a:rPr lang="en-GB" sz="1400" kern="1200">
              <a:latin typeface="Aptos" panose="020B0004020202020204" pitchFamily="34" charset="0"/>
            </a:rPr>
            <a:t>: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0" y="3121735"/>
        <a:ext cx="2272453" cy="980974"/>
      </dsp:txXfrm>
    </dsp:sp>
    <dsp:sp modelId="{89C05BB1-3AE6-4999-8645-1EB67A26E5A5}">
      <dsp:nvSpPr>
        <dsp:cNvPr id="0" name=""/>
        <dsp:cNvSpPr/>
      </dsp:nvSpPr>
      <dsp:spPr>
        <a:xfrm>
          <a:off x="2272453" y="4161568"/>
          <a:ext cx="9089812" cy="9809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368" tIns="249168" rIns="176368" bIns="24916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Aptos" panose="020B0004020202020204" pitchFamily="34" charset="0"/>
            </a:rPr>
            <a:t>Campus activations and student discount promotions</a:t>
          </a:r>
          <a:endParaRPr lang="en-US" sz="1100" kern="120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Aptos" panose="020B0004020202020204" pitchFamily="34" charset="0"/>
            </a:rPr>
            <a:t>Combo meal bundles and loyalty rewards</a:t>
          </a:r>
          <a:endParaRPr lang="en-US" sz="1100" kern="1200" dirty="0">
            <a:latin typeface="Aptos" panose="020B0004020202020204" pitchFamily="34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Aptos" panose="020B0004020202020204" pitchFamily="34" charset="0"/>
            </a:rPr>
            <a:t>Leverage mobile app push notifications and in-app offers</a:t>
          </a:r>
          <a:endParaRPr lang="en-US" sz="1100" kern="1200">
            <a:latin typeface="Aptos" panose="020B0004020202020204" pitchFamily="34" charset="0"/>
          </a:endParaRPr>
        </a:p>
      </dsp:txBody>
      <dsp:txXfrm>
        <a:off x="2272453" y="4161568"/>
        <a:ext cx="9089812" cy="980974"/>
      </dsp:txXfrm>
    </dsp:sp>
    <dsp:sp modelId="{B2CD96BC-E57F-403B-B9CC-9AAFE3E01F3D}">
      <dsp:nvSpPr>
        <dsp:cNvPr id="0" name=""/>
        <dsp:cNvSpPr/>
      </dsp:nvSpPr>
      <dsp:spPr>
        <a:xfrm>
          <a:off x="0" y="4161568"/>
          <a:ext cx="2272453" cy="980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251" tIns="96899" rIns="120251" bIns="9689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latin typeface="Aptos" panose="020B0004020202020204" pitchFamily="34" charset="0"/>
            </a:rPr>
            <a:t>Marketing Strategy</a:t>
          </a:r>
          <a:r>
            <a:rPr lang="en-GB" sz="1400" kern="1200">
              <a:latin typeface="Aptos" panose="020B0004020202020204" pitchFamily="34" charset="0"/>
            </a:rPr>
            <a:t>:</a:t>
          </a:r>
          <a:endParaRPr lang="en-US" sz="1400" kern="1200">
            <a:latin typeface="Aptos" panose="020B0004020202020204" pitchFamily="34" charset="0"/>
          </a:endParaRPr>
        </a:p>
      </dsp:txBody>
      <dsp:txXfrm>
        <a:off x="0" y="4161568"/>
        <a:ext cx="2272453" cy="9809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1E80A-1B92-43F8-A2E6-7B1AA65054EA}">
      <dsp:nvSpPr>
        <dsp:cNvPr id="0" name=""/>
        <dsp:cNvSpPr/>
      </dsp:nvSpPr>
      <dsp:spPr>
        <a:xfrm>
          <a:off x="0" y="85265"/>
          <a:ext cx="50546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>
              <a:latin typeface="Aptos" panose="020B0004020202020204" pitchFamily="34" charset="0"/>
            </a:rPr>
            <a:t>Platforms: Instagram, YouTube, Meta Ads, Google Search</a:t>
          </a:r>
          <a:endParaRPr lang="en-US" sz="1900" kern="1200">
            <a:latin typeface="Aptos" panose="020B0004020202020204" pitchFamily="34" charset="0"/>
          </a:endParaRPr>
        </a:p>
      </dsp:txBody>
      <dsp:txXfrm>
        <a:off x="51885" y="137150"/>
        <a:ext cx="4950830" cy="959101"/>
      </dsp:txXfrm>
    </dsp:sp>
    <dsp:sp modelId="{F3E60A9B-40F8-40AE-AD83-943AE0713599}">
      <dsp:nvSpPr>
        <dsp:cNvPr id="0" name=""/>
        <dsp:cNvSpPr/>
      </dsp:nvSpPr>
      <dsp:spPr>
        <a:xfrm>
          <a:off x="0" y="1202857"/>
          <a:ext cx="50546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>
              <a:latin typeface="Aptos" panose="020B0004020202020204" pitchFamily="34" charset="0"/>
            </a:rPr>
            <a:t>Monthly Budget: AUD 1000 (Total: AUD 6000)</a:t>
          </a:r>
          <a:endParaRPr lang="en-US" sz="1900" kern="1200">
            <a:latin typeface="Aptos" panose="020B0004020202020204" pitchFamily="34" charset="0"/>
          </a:endParaRPr>
        </a:p>
      </dsp:txBody>
      <dsp:txXfrm>
        <a:off x="51885" y="1254742"/>
        <a:ext cx="4950830" cy="959101"/>
      </dsp:txXfrm>
    </dsp:sp>
    <dsp:sp modelId="{2D21F55E-945E-40CA-AF7B-100DB4F89BC1}">
      <dsp:nvSpPr>
        <dsp:cNvPr id="0" name=""/>
        <dsp:cNvSpPr/>
      </dsp:nvSpPr>
      <dsp:spPr>
        <a:xfrm>
          <a:off x="0" y="2320449"/>
          <a:ext cx="50546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>
              <a:latin typeface="Aptos" panose="020B0004020202020204" pitchFamily="34" charset="0"/>
            </a:rPr>
            <a:t>Messages will highlight: "Healthy indulgence," "Customisable veggie delight," and value-driven bundles</a:t>
          </a:r>
          <a:endParaRPr lang="en-US" sz="1900" kern="1200">
            <a:latin typeface="Aptos" panose="020B0004020202020204" pitchFamily="34" charset="0"/>
          </a:endParaRPr>
        </a:p>
      </dsp:txBody>
      <dsp:txXfrm>
        <a:off x="51885" y="2372334"/>
        <a:ext cx="4950830" cy="959101"/>
      </dsp:txXfrm>
    </dsp:sp>
    <dsp:sp modelId="{DEBDA222-D997-4EA2-8CC3-A3B3B6C1B61A}">
      <dsp:nvSpPr>
        <dsp:cNvPr id="0" name=""/>
        <dsp:cNvSpPr/>
      </dsp:nvSpPr>
      <dsp:spPr>
        <a:xfrm>
          <a:off x="0" y="3438040"/>
          <a:ext cx="50546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>
              <a:latin typeface="Aptos" panose="020B0004020202020204" pitchFamily="34" charset="0"/>
            </a:rPr>
            <a:t>Use tracking pixels and UTM tags to monitor campaign effectiveness</a:t>
          </a:r>
          <a:endParaRPr lang="en-US" sz="1900" kern="1200">
            <a:latin typeface="Aptos" panose="020B0004020202020204" pitchFamily="34" charset="0"/>
          </a:endParaRPr>
        </a:p>
      </dsp:txBody>
      <dsp:txXfrm>
        <a:off x="51885" y="3489925"/>
        <a:ext cx="4950830" cy="9591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E84673-EB80-4F4B-8F36-0ADFDC02D22B}">
      <dsp:nvSpPr>
        <dsp:cNvPr id="0" name=""/>
        <dsp:cNvSpPr/>
      </dsp:nvSpPr>
      <dsp:spPr>
        <a:xfrm>
          <a:off x="0" y="0"/>
          <a:ext cx="5716805" cy="9442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ptos" panose="020B0004020202020204" pitchFamily="34" charset="0"/>
            </a:rPr>
            <a:t>The project identified two distinct customer segments—Value-Focused Millennials and Experimental Urban Adults—through data-driven conjoint and cluster analyses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27655" y="27655"/>
        <a:ext cx="4587454" cy="888902"/>
      </dsp:txXfrm>
    </dsp:sp>
    <dsp:sp modelId="{067923CB-F3D2-47D0-9326-A605E2FF724C}">
      <dsp:nvSpPr>
        <dsp:cNvPr id="0" name=""/>
        <dsp:cNvSpPr/>
      </dsp:nvSpPr>
      <dsp:spPr>
        <a:xfrm>
          <a:off x="426904" y="1075352"/>
          <a:ext cx="5716805" cy="944212"/>
        </a:xfrm>
        <a:prstGeom prst="roundRect">
          <a:avLst>
            <a:gd name="adj" fmla="val 10000"/>
          </a:avLst>
        </a:prstGeom>
        <a:solidFill>
          <a:schemeClr val="accent2">
            <a:hueOff val="-4721380"/>
            <a:satOff val="9088"/>
            <a:lumOff val="-62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ptos" panose="020B0004020202020204" pitchFamily="34" charset="0"/>
            </a:rPr>
            <a:t>A double Paneer patty burger with multigrain bread and customisable toppings at $11.95 fits the sweet spot of preference and market positioning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454559" y="1103007"/>
        <a:ext cx="4620853" cy="888902"/>
      </dsp:txXfrm>
    </dsp:sp>
    <dsp:sp modelId="{9D1BDE5F-A97F-4C64-B690-13FA2901A1BE}">
      <dsp:nvSpPr>
        <dsp:cNvPr id="0" name=""/>
        <dsp:cNvSpPr/>
      </dsp:nvSpPr>
      <dsp:spPr>
        <a:xfrm>
          <a:off x="853808" y="2150705"/>
          <a:ext cx="5716805" cy="944212"/>
        </a:xfrm>
        <a:prstGeom prst="roundRect">
          <a:avLst>
            <a:gd name="adj" fmla="val 10000"/>
          </a:avLst>
        </a:prstGeom>
        <a:solidFill>
          <a:schemeClr val="accent2">
            <a:hueOff val="-9442759"/>
            <a:satOff val="18175"/>
            <a:lumOff val="-1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ptos" panose="020B0004020202020204" pitchFamily="34" charset="0"/>
            </a:rPr>
            <a:t>The ideal positioning balances price sensitivity and health-conscious indulgence, backed by a clear gap in the perceptual map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881463" y="2178360"/>
        <a:ext cx="4620853" cy="888902"/>
      </dsp:txXfrm>
    </dsp:sp>
    <dsp:sp modelId="{2B80BE79-1D4D-410A-A45C-2D328C458683}">
      <dsp:nvSpPr>
        <dsp:cNvPr id="0" name=""/>
        <dsp:cNvSpPr/>
      </dsp:nvSpPr>
      <dsp:spPr>
        <a:xfrm>
          <a:off x="1280712" y="3226058"/>
          <a:ext cx="5716805" cy="944212"/>
        </a:xfrm>
        <a:prstGeom prst="roundRect">
          <a:avLst>
            <a:gd name="adj" fmla="val 10000"/>
          </a:avLst>
        </a:prstGeom>
        <a:solidFill>
          <a:schemeClr val="accent2">
            <a:hueOff val="-14164138"/>
            <a:satOff val="27263"/>
            <a:lumOff val="-1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ptos" panose="020B0004020202020204" pitchFamily="34" charset="0"/>
            </a:rPr>
            <a:t>Strategic recommendations include dual product lines and a targeted 6-month digital marketing plan with focused SEO/SEM execution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1308367" y="3253713"/>
        <a:ext cx="4620853" cy="888902"/>
      </dsp:txXfrm>
    </dsp:sp>
    <dsp:sp modelId="{E220C21F-4703-4058-B914-49FA2200373A}">
      <dsp:nvSpPr>
        <dsp:cNvPr id="0" name=""/>
        <dsp:cNvSpPr/>
      </dsp:nvSpPr>
      <dsp:spPr>
        <a:xfrm>
          <a:off x="1707617" y="4301411"/>
          <a:ext cx="5716805" cy="944212"/>
        </a:xfrm>
        <a:prstGeom prst="roundRect">
          <a:avLst>
            <a:gd name="adj" fmla="val 10000"/>
          </a:avLst>
        </a:prstGeom>
        <a:solidFill>
          <a:schemeClr val="accent2">
            <a:hueOff val="-18885518"/>
            <a:satOff val="36351"/>
            <a:lumOff val="-250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ptos" panose="020B0004020202020204" pitchFamily="34" charset="0"/>
            </a:rPr>
            <a:t>McDonald’s is well-positioned to lead the plant-based category by combining brand familiarity with modern, customisable offerings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1735272" y="4329066"/>
        <a:ext cx="4620853" cy="888902"/>
      </dsp:txXfrm>
    </dsp:sp>
    <dsp:sp modelId="{FD53FE93-4D48-4444-9EA5-489553F5AE79}">
      <dsp:nvSpPr>
        <dsp:cNvPr id="0" name=""/>
        <dsp:cNvSpPr/>
      </dsp:nvSpPr>
      <dsp:spPr>
        <a:xfrm>
          <a:off x="5103067" y="689799"/>
          <a:ext cx="613738" cy="61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241158" y="689799"/>
        <a:ext cx="337556" cy="461838"/>
      </dsp:txXfrm>
    </dsp:sp>
    <dsp:sp modelId="{7C5B30FB-4CB6-46BB-9EF9-2C24575A5871}">
      <dsp:nvSpPr>
        <dsp:cNvPr id="0" name=""/>
        <dsp:cNvSpPr/>
      </dsp:nvSpPr>
      <dsp:spPr>
        <a:xfrm>
          <a:off x="5529972" y="1765152"/>
          <a:ext cx="613738" cy="61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6477394"/>
            <a:satOff val="3219"/>
            <a:lumOff val="-150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477394"/>
              <a:satOff val="3219"/>
              <a:lumOff val="-15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668063" y="1765152"/>
        <a:ext cx="337556" cy="461838"/>
      </dsp:txXfrm>
    </dsp:sp>
    <dsp:sp modelId="{E1895750-74CC-4908-8889-B0571CB87782}">
      <dsp:nvSpPr>
        <dsp:cNvPr id="0" name=""/>
        <dsp:cNvSpPr/>
      </dsp:nvSpPr>
      <dsp:spPr>
        <a:xfrm>
          <a:off x="5956876" y="2824768"/>
          <a:ext cx="613738" cy="61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2954789"/>
            <a:satOff val="6437"/>
            <a:lumOff val="-30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2954789"/>
              <a:satOff val="6437"/>
              <a:lumOff val="-30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4967" y="2824768"/>
        <a:ext cx="337556" cy="461838"/>
      </dsp:txXfrm>
    </dsp:sp>
    <dsp:sp modelId="{979DC80B-A474-45B6-9862-6D1C0B468514}">
      <dsp:nvSpPr>
        <dsp:cNvPr id="0" name=""/>
        <dsp:cNvSpPr/>
      </dsp:nvSpPr>
      <dsp:spPr>
        <a:xfrm>
          <a:off x="6383780" y="3910612"/>
          <a:ext cx="613738" cy="61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9432183"/>
            <a:satOff val="9656"/>
            <a:lumOff val="-451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9432183"/>
              <a:satOff val="9656"/>
              <a:lumOff val="-45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521871" y="3910612"/>
        <a:ext cx="337556" cy="4618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2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0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4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0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2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5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85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8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4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4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5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DC538-B197-7D5F-E56F-70CCE3CB3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1406" y="1199288"/>
            <a:ext cx="5450958" cy="3520350"/>
          </a:xfrm>
        </p:spPr>
        <p:txBody>
          <a:bodyPr anchor="t">
            <a:normAutofit/>
          </a:bodyPr>
          <a:lstStyle/>
          <a:p>
            <a:pPr algn="r"/>
            <a:r>
              <a:rPr lang="en-GB" sz="4600" dirty="0">
                <a:latin typeface="Goudy Old Style" panose="02020502050305020303" pitchFamily="18" charset="0"/>
              </a:rPr>
              <a:t>24753 - Customer Analytics</a:t>
            </a:r>
            <a:br>
              <a:rPr lang="en-GB" sz="4600" dirty="0">
                <a:latin typeface="Goudy Old Style" panose="02020502050305020303" pitchFamily="18" charset="0"/>
              </a:rPr>
            </a:br>
            <a:r>
              <a:rPr lang="en-AU" sz="4600" b="0" i="0" dirty="0">
                <a:effectLst/>
                <a:latin typeface="Goudy Old Style" panose="02020502050305020303" pitchFamily="18" charset="0"/>
              </a:rPr>
              <a:t>Assignment 1C</a:t>
            </a:r>
            <a:br>
              <a:rPr lang="en-AU" sz="4600" b="0" i="0" dirty="0">
                <a:effectLst/>
                <a:latin typeface="Lato Extended"/>
              </a:rPr>
            </a:br>
            <a:endParaRPr lang="en-AU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9A147-F15F-54B6-8996-C7931DB76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1891" y="4748994"/>
            <a:ext cx="3489644" cy="1169932"/>
          </a:xfrm>
        </p:spPr>
        <p:txBody>
          <a:bodyPr>
            <a:normAutofit/>
          </a:bodyPr>
          <a:lstStyle/>
          <a:p>
            <a:pPr algn="r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Rahul Aryan Rajashekhar</a:t>
            </a:r>
            <a:endParaRPr lang="en-A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ED61EC8C-9F54-4671-8E82-4AE6101D6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965"/>
            <a:ext cx="4584879" cy="6863976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4879" h="6863976">
                <a:moveTo>
                  <a:pt x="0" y="0"/>
                </a:moveTo>
                <a:lnTo>
                  <a:pt x="4584879" y="0"/>
                </a:lnTo>
                <a:lnTo>
                  <a:pt x="2493114" y="6863976"/>
                </a:lnTo>
                <a:lnTo>
                  <a:pt x="0" y="686397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8557940A-71CE-48E1-BD71-2BEF1561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10013" y="-8965"/>
            <a:ext cx="708298" cy="68699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7" name="Straight Connector 6156">
            <a:extLst>
              <a:ext uri="{FF2B5EF4-FFF2-40B4-BE49-F238E27FC236}">
                <a16:creationId xmlns:a16="http://schemas.microsoft.com/office/drawing/2014/main" id="{4777C915-01E5-4C85-B3BF-7BF7CC3F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401236"/>
            <a:ext cx="4011413" cy="345676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History of McDonald's - Wikipedia">
            <a:extLst>
              <a:ext uri="{FF2B5EF4-FFF2-40B4-BE49-F238E27FC236}">
                <a16:creationId xmlns:a16="http://schemas.microsoft.com/office/drawing/2014/main" id="{59702317-42D3-C28E-22B4-76B597023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0" y="1036062"/>
            <a:ext cx="4764606" cy="47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902EFC-1AEF-C06B-0395-D78C33BB5687}"/>
              </a:ext>
            </a:extLst>
          </p:cNvPr>
          <p:cNvSpPr txBox="1"/>
          <p:nvPr/>
        </p:nvSpPr>
        <p:spPr>
          <a:xfrm>
            <a:off x="5498013" y="4687629"/>
            <a:ext cx="2300244" cy="1081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  <a:spcBef>
                <a:spcPts val="1000"/>
              </a:spcBef>
              <a:buSzPct val="80000"/>
            </a:pPr>
            <a:r>
              <a:rPr lang="en-GB" sz="1600" b="1" cap="all" spc="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to:</a:t>
            </a:r>
          </a:p>
          <a:p>
            <a:pPr algn="r">
              <a:lnSpc>
                <a:spcPct val="120000"/>
              </a:lnSpc>
              <a:spcBef>
                <a:spcPts val="1000"/>
              </a:spcBef>
              <a:buSzPct val="80000"/>
            </a:pPr>
            <a:r>
              <a:rPr lang="en-AU" sz="1600" b="1" cap="all" spc="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Sonika Singh</a:t>
            </a:r>
          </a:p>
        </p:txBody>
      </p:sp>
    </p:spTree>
    <p:extLst>
      <p:ext uri="{BB962C8B-B14F-4D97-AF65-F5344CB8AC3E}">
        <p14:creationId xmlns:p14="http://schemas.microsoft.com/office/powerpoint/2010/main" val="301454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F2A56-5F7A-7F5E-4DC8-C1D9BDAB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Business Issue and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7CC67-73F9-B2A8-F573-7AF541C1C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554"/>
            <a:ext cx="4563533" cy="1732713"/>
          </a:xfrm>
        </p:spPr>
        <p:txBody>
          <a:bodyPr>
            <a:normAutofit fontScale="92500" lnSpcReduction="20000"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McDonald’s is seeking to diversify its product offerings by entering the growing market for plant-based burgers.</a:t>
            </a:r>
          </a:p>
          <a:p>
            <a:r>
              <a:rPr lang="en-GB" sz="1600" dirty="0">
                <a:latin typeface="Aptos" panose="020B0004020202020204" pitchFamily="34" charset="0"/>
              </a:rPr>
              <a:t>The demand for vegetarian and vegan options has been significantly increasing, especially among younger consumers like Gen Z and Millennials, driven by health, sustainability, and ethical concerns.</a:t>
            </a:r>
            <a:endParaRPr lang="en-AU" sz="1600" dirty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830CE-482B-EC20-06BA-11DAD2E4EB48}"/>
              </a:ext>
            </a:extLst>
          </p:cNvPr>
          <p:cNvSpPr/>
          <p:nvPr/>
        </p:nvSpPr>
        <p:spPr>
          <a:xfrm>
            <a:off x="1024466" y="3878599"/>
            <a:ext cx="4978400" cy="2101422"/>
          </a:xfrm>
          <a:prstGeom prst="rect">
            <a:avLst/>
          </a:prstGeom>
          <a:solidFill>
            <a:srgbClr val="92D050"/>
          </a:solidFill>
          <a:effectLst>
            <a:outerShdw blurRad="50800" dist="38100" algn="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latin typeface="Aptos" panose="020B0004020202020204" pitchFamily="34" charset="0"/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Strong brand presence and wide distribution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Opportunity to lead in a high-growth segment with innovative offerings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Ability to leverage digital platforms for targeted marketing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45269-0EF7-DAD9-536E-CC9AE9B9FAC2}"/>
              </a:ext>
            </a:extLst>
          </p:cNvPr>
          <p:cNvSpPr txBox="1"/>
          <p:nvPr/>
        </p:nvSpPr>
        <p:spPr>
          <a:xfrm>
            <a:off x="6663261" y="4013202"/>
            <a:ext cx="419100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ptos" panose="020B0004020202020204" pitchFamily="34" charset="0"/>
              </a:rPr>
              <a:t>Goal</a:t>
            </a:r>
            <a:r>
              <a:rPr lang="en-GB" dirty="0">
                <a:latin typeface="Aptos" panose="020B0004020202020204" pitchFamily="34" charset="0"/>
              </a:rPr>
              <a:t>: </a:t>
            </a:r>
          </a:p>
          <a:p>
            <a:r>
              <a:rPr lang="en-GB" sz="1600" dirty="0">
                <a:latin typeface="Aptos" panose="020B0004020202020204" pitchFamily="34" charset="0"/>
              </a:rPr>
              <a:t>Use STP (Segmentation, Targeting, Positioning) to develop customer-backed product strategies that reduce launch risk and ensure market fit.</a:t>
            </a:r>
            <a:endParaRPr lang="en-AU" sz="1600" dirty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DB9DB8-7151-98A6-9E86-A55389DA8C24}"/>
              </a:ext>
            </a:extLst>
          </p:cNvPr>
          <p:cNvSpPr/>
          <p:nvPr/>
        </p:nvSpPr>
        <p:spPr>
          <a:xfrm>
            <a:off x="6485469" y="1803456"/>
            <a:ext cx="4665133" cy="2075143"/>
          </a:xfrm>
          <a:prstGeom prst="rect">
            <a:avLst/>
          </a:prstGeom>
          <a:solidFill>
            <a:srgbClr val="FF0000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latin typeface="Aptos" panose="020B0004020202020204" pitchFamily="34" charset="0"/>
              </a:rPr>
              <a:t>Challenges</a:t>
            </a:r>
            <a:r>
              <a:rPr lang="en-GB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Shifting consumer expectations toward health, sustainability, and customization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New competitors entering the plant-based segment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Risk of launching a product that fails to meet customer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263618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D4E0-86B3-6B0E-5F05-B975E57AF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Survey Design and Conjoint Attributes</a:t>
            </a:r>
            <a:br>
              <a:rPr lang="en-GB" dirty="0"/>
            </a:br>
            <a:endParaRPr lang="en-AU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608F584-9505-D18D-6FC8-AA05D5405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551357"/>
              </p:ext>
            </p:extLst>
          </p:nvPr>
        </p:nvGraphicFramePr>
        <p:xfrm>
          <a:off x="905933" y="1772487"/>
          <a:ext cx="5367867" cy="3282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0091DC2-D38B-5D72-154C-85847593DF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253" y="1915557"/>
            <a:ext cx="4166747" cy="225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76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DF32-EFD3-AF3A-1895-3A75A897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5130800" cy="1382156"/>
          </a:xfrm>
        </p:spPr>
        <p:txBody>
          <a:bodyPr>
            <a:noAutofit/>
          </a:bodyPr>
          <a:lstStyle/>
          <a:p>
            <a:r>
              <a:rPr lang="en-AU" sz="2600" b="1" dirty="0"/>
              <a:t>Survey Respondent Summary</a:t>
            </a:r>
            <a:br>
              <a:rPr lang="en-AU" sz="3200" dirty="0"/>
            </a:br>
            <a:endParaRPr lang="en-AU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519A-F8D0-78AC-0B9C-8D3EA6B9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66" y="1746223"/>
            <a:ext cx="5147733" cy="1936777"/>
          </a:xfrm>
          <a:solidFill>
            <a:schemeClr val="tx2">
              <a:lumMod val="25000"/>
              <a:lumOff val="75000"/>
            </a:schemeClr>
          </a:solidFill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" panose="020B0004020202020204" pitchFamily="34" charset="0"/>
              </a:rPr>
              <a:t>Total respondents: </a:t>
            </a:r>
            <a:r>
              <a:rPr lang="en-GB" sz="1600" dirty="0">
                <a:latin typeface="Aptos" panose="020B0004020202020204" pitchFamily="34" charset="0"/>
              </a:rPr>
              <a:t>57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" panose="020B0004020202020204" pitchFamily="34" charset="0"/>
              </a:rPr>
              <a:t>Age groups: </a:t>
            </a:r>
            <a:r>
              <a:rPr lang="en-GB" sz="1600" dirty="0">
                <a:latin typeface="Aptos" panose="020B0004020202020204" pitchFamily="34" charset="0"/>
              </a:rPr>
              <a:t>Majority between 18-34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" panose="020B0004020202020204" pitchFamily="34" charset="0"/>
              </a:rPr>
              <a:t>Gender: </a:t>
            </a:r>
            <a:r>
              <a:rPr lang="en-GB" sz="1600" dirty="0">
                <a:latin typeface="Aptos" panose="020B0004020202020204" pitchFamily="34" charset="0"/>
              </a:rPr>
              <a:t>Male-dominant sample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" panose="020B0004020202020204" pitchFamily="34" charset="0"/>
              </a:rPr>
              <a:t>Spending habits: </a:t>
            </a:r>
            <a:r>
              <a:rPr lang="en-GB" sz="1600" dirty="0">
                <a:latin typeface="Aptos" panose="020B0004020202020204" pitchFamily="34" charset="0"/>
              </a:rPr>
              <a:t>Range from budget ($&lt;10) to premium ($&gt;20), majority around $10-$15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D3B510-A8BC-48DD-23CB-33DD6FF506F3}"/>
              </a:ext>
            </a:extLst>
          </p:cNvPr>
          <p:cNvSpPr txBox="1">
            <a:spLocks/>
          </p:cNvSpPr>
          <p:nvPr/>
        </p:nvSpPr>
        <p:spPr>
          <a:xfrm>
            <a:off x="6358466" y="364067"/>
            <a:ext cx="51308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/>
              <a:t>Conjoint Analysis Results</a:t>
            </a:r>
            <a:endParaRPr lang="en-AU" dirty="0"/>
          </a:p>
          <a:p>
            <a:br>
              <a:rPr lang="en-AU" dirty="0"/>
            </a:b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D4EF4-628B-5CB5-A4CD-F85559F039E5}"/>
              </a:ext>
            </a:extLst>
          </p:cNvPr>
          <p:cNvSpPr txBox="1"/>
          <p:nvPr/>
        </p:nvSpPr>
        <p:spPr>
          <a:xfrm>
            <a:off x="6121400" y="1746223"/>
            <a:ext cx="5147733" cy="2062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Most important attribute: Type of Patty (importance score: 39)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Preferred Patty: Paneer &gt; Potato &gt; Cauliflower &gt; Soy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Preferred Bread: Multigrain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Price: $11.95 preferred, indicating quality perception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Most preferred profile: Profile 8 - Paneer, Double Patty, Whole Wheat, $11.95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Chosen by </a:t>
            </a:r>
            <a:r>
              <a:rPr lang="en-GB" sz="1600" b="1" dirty="0">
                <a:latin typeface="Aptos" panose="020B0004020202020204" pitchFamily="34" charset="0"/>
              </a:rPr>
              <a:t>21 out of 57</a:t>
            </a:r>
            <a:r>
              <a:rPr lang="en-GB" sz="1600" dirty="0">
                <a:latin typeface="Aptos" panose="020B0004020202020204" pitchFamily="34" charset="0"/>
              </a:rPr>
              <a:t> respondents</a:t>
            </a:r>
            <a:r>
              <a:rPr lang="en-GB" sz="1600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2754FD-C1B3-1DB9-0269-7F6AE12BB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66" y="3957560"/>
            <a:ext cx="3955963" cy="23670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822464-2B82-617C-B246-6397BA8B7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198" y="4132578"/>
            <a:ext cx="4074402" cy="230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0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5550-6A4C-DE3F-C996-5AE5D0EC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Segmentation Methodology</a:t>
            </a:r>
            <a:br>
              <a:rPr lang="en-AU" sz="3600" dirty="0"/>
            </a:br>
            <a:endParaRPr lang="en-AU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67A15-71C8-5750-96F8-CCC7122BF2F1}"/>
              </a:ext>
            </a:extLst>
          </p:cNvPr>
          <p:cNvSpPr txBox="1"/>
          <p:nvPr/>
        </p:nvSpPr>
        <p:spPr>
          <a:xfrm>
            <a:off x="844550" y="1981538"/>
            <a:ext cx="61256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Cluster analysis conducted in Tableau using individual-level part-worth scores from conjoint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Objective : </a:t>
            </a:r>
            <a:r>
              <a:rPr lang="en-GB" sz="1600" dirty="0">
                <a:latin typeface="Aptos" panose="020B0004020202020204" pitchFamily="34" charset="0"/>
              </a:rPr>
              <a:t>To group customers based on similar preferences and identify actionable target segments for product positioning.</a:t>
            </a:r>
            <a:endParaRPr lang="en-AU" sz="160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K-Means clustering algorithm automatically determined 2 optimal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Clusters identified: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dirty="0">
                <a:latin typeface="Aptos" panose="020B0004020202020204" pitchFamily="34" charset="0"/>
              </a:rPr>
              <a:t>Cluster 1: Value-Focused Millennials</a:t>
            </a:r>
            <a:r>
              <a:rPr lang="en-AU" sz="1600" dirty="0">
                <a:latin typeface="Aptos" panose="020B0004020202020204" pitchFamily="34" charset="0"/>
              </a:rPr>
              <a:t> (40 respondents)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dirty="0">
                <a:latin typeface="Aptos" panose="020B0004020202020204" pitchFamily="34" charset="0"/>
              </a:rPr>
              <a:t>Cluster 2: Experimental Urban Adults</a:t>
            </a:r>
            <a:r>
              <a:rPr lang="en-AU" sz="1600" dirty="0">
                <a:latin typeface="Aptos" panose="020B0004020202020204" pitchFamily="34" charset="0"/>
              </a:rPr>
              <a:t> (24 respondents)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1600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986DC-D3A4-77C5-9FEE-138A8CE1E125}"/>
              </a:ext>
            </a:extLst>
          </p:cNvPr>
          <p:cNvSpPr txBox="1"/>
          <p:nvPr/>
        </p:nvSpPr>
        <p:spPr>
          <a:xfrm>
            <a:off x="988707" y="4814667"/>
            <a:ext cx="61256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This segmentation enabled McDonald’s to uncover two clearly differentiated consumer groups based on their preference patterns, providing the foundation for precise targeting and positioning strategies.</a:t>
            </a:r>
            <a:endParaRPr lang="en-AU" sz="1600" dirty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488642-0F2F-67A9-BACE-D0577AD72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182" y="4234468"/>
            <a:ext cx="4821235" cy="209013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33B392-0C9D-67D8-CC38-054A58A9A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70182" y="1719888"/>
            <a:ext cx="3786071" cy="2282870"/>
          </a:xfrm>
        </p:spPr>
      </p:pic>
    </p:spTree>
    <p:extLst>
      <p:ext uri="{BB962C8B-B14F-4D97-AF65-F5344CB8AC3E}">
        <p14:creationId xmlns:p14="http://schemas.microsoft.com/office/powerpoint/2010/main" val="200398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F364-A96F-3540-BBDF-3D556585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829732"/>
          </a:xfrm>
        </p:spPr>
        <p:txBody>
          <a:bodyPr>
            <a:noAutofit/>
          </a:bodyPr>
          <a:lstStyle/>
          <a:p>
            <a:r>
              <a:rPr lang="en-GB" sz="2800" b="1" dirty="0"/>
              <a:t>Cluster 1 Profile: Value-Focused Millennials</a:t>
            </a:r>
            <a:br>
              <a:rPr lang="en-GB" sz="4000" b="1" dirty="0"/>
            </a:br>
            <a:endParaRPr lang="en-AU" sz="4000" b="1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050FB26-4847-F031-3C25-352E179FA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247397"/>
              </p:ext>
            </p:extLst>
          </p:nvPr>
        </p:nvGraphicFramePr>
        <p:xfrm>
          <a:off x="585894" y="1097243"/>
          <a:ext cx="11362266" cy="514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6DC095E-3FB3-E1A1-1B78-9550BC2436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6008" y="2627768"/>
            <a:ext cx="1845007" cy="3195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112C59-AF7E-CF98-1453-78975A62BC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6496" y="2519409"/>
            <a:ext cx="1845007" cy="32836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11FCA4-6698-6594-3022-B19078AC66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5746" y="2723150"/>
            <a:ext cx="1434781" cy="310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5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92E0-6803-FA1D-C510-88619AFFD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sz="3100" b="1" dirty="0"/>
              <a:t>Cluster 2 Profile: Experimental Urban Adults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9F5C-A574-72C0-FC9D-CF0EC9712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90320"/>
            <a:ext cx="10408920" cy="4743658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700" b="1" dirty="0">
                <a:latin typeface="Aptos" panose="020B0004020202020204" pitchFamily="34" charset="0"/>
              </a:rPr>
              <a:t>Size</a:t>
            </a:r>
            <a:r>
              <a:rPr lang="en-GB" sz="1700" dirty="0">
                <a:latin typeface="Aptos" panose="020B0004020202020204" pitchFamily="34" charset="0"/>
              </a:rPr>
              <a:t>: 24 respondents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dirty="0">
                <a:latin typeface="Aptos" panose="020B0004020202020204" pitchFamily="34" charset="0"/>
              </a:rPr>
              <a:t>Demographics</a:t>
            </a:r>
            <a:r>
              <a:rPr lang="en-GB" sz="1700" dirty="0">
                <a:latin typeface="Aptos" panose="020B0004020202020204" pitchFamily="34" charset="0"/>
              </a:rPr>
              <a:t>: Primarily males aged 25–34; likely young professionals in urban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dirty="0">
                <a:latin typeface="Aptos" panose="020B0004020202020204" pitchFamily="34" charset="0"/>
              </a:rPr>
              <a:t>Preferences</a:t>
            </a:r>
            <a:r>
              <a:rPr lang="en-GB" sz="17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Strong interest in </a:t>
            </a:r>
            <a:r>
              <a:rPr lang="en-GB" sz="1700" b="1" dirty="0">
                <a:latin typeface="Aptos" panose="020B0004020202020204" pitchFamily="34" charset="0"/>
              </a:rPr>
              <a:t>Potato</a:t>
            </a:r>
            <a:r>
              <a:rPr lang="en-GB" sz="1700" dirty="0">
                <a:latin typeface="Aptos" panose="020B0004020202020204" pitchFamily="34" charset="0"/>
              </a:rPr>
              <a:t> and </a:t>
            </a:r>
            <a:r>
              <a:rPr lang="en-GB" sz="1700" b="1" dirty="0">
                <a:latin typeface="Aptos" panose="020B0004020202020204" pitchFamily="34" charset="0"/>
              </a:rPr>
              <a:t>Paneer</a:t>
            </a:r>
            <a:r>
              <a:rPr lang="en-GB" sz="1700" dirty="0">
                <a:latin typeface="Aptos" panose="020B0004020202020204" pitchFamily="34" charset="0"/>
              </a:rPr>
              <a:t> patties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Preference for </a:t>
            </a:r>
            <a:r>
              <a:rPr lang="en-GB" sz="1700" b="1" dirty="0">
                <a:latin typeface="Aptos" panose="020B0004020202020204" pitchFamily="34" charset="0"/>
              </a:rPr>
              <a:t>Single patty</a:t>
            </a:r>
            <a:r>
              <a:rPr lang="en-GB" sz="1700" dirty="0">
                <a:latin typeface="Aptos" panose="020B0004020202020204" pitchFamily="34" charset="0"/>
              </a:rPr>
              <a:t> 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Shows a mix of price sensitivity—some value and some premium preferences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Bread choice flexible but leans toward variety and novelty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dirty="0">
                <a:latin typeface="Aptos" panose="020B0004020202020204" pitchFamily="34" charset="0"/>
              </a:rPr>
              <a:t>Behavioural Traits</a:t>
            </a:r>
            <a:r>
              <a:rPr lang="en-GB" sz="17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More experimental in food choices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Interested in unique or limited-time offerings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Likely influenced by health trends, sustainability, and social media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dirty="0">
                <a:latin typeface="Aptos" panose="020B0004020202020204" pitchFamily="34" charset="0"/>
              </a:rPr>
              <a:t>Marketing Strategy</a:t>
            </a:r>
            <a:r>
              <a:rPr lang="en-GB" sz="17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Use influencer marketing to create awareness and credibility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Promote sustainability and unique ingredients through storytelling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Emphasize customization and exclusivity via digital campaigns</a:t>
            </a:r>
          </a:p>
          <a:p>
            <a:endParaRPr lang="en-AU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CBCAD-FD16-7D6F-B955-55AED735E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652" y="4070705"/>
            <a:ext cx="1981780" cy="2683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4226D-AFC2-B669-CA49-95C954823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621" y="1166162"/>
            <a:ext cx="1443901" cy="2831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6B04E7-69AC-979A-FF77-89BC04EE3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1800" y="1313680"/>
            <a:ext cx="1288156" cy="268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3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09755-C7A5-D294-60C6-B9EE868F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dirty="0"/>
              <a:t>Positioning Analysis</a:t>
            </a:r>
            <a:br>
              <a:rPr lang="en-US" sz="3700" dirty="0"/>
            </a:br>
            <a:endParaRPr lang="en-US" sz="37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317C2F-CB69-66FA-BDBF-D70039600480}"/>
              </a:ext>
            </a:extLst>
          </p:cNvPr>
          <p:cNvSpPr txBox="1"/>
          <p:nvPr/>
        </p:nvSpPr>
        <p:spPr>
          <a:xfrm>
            <a:off x="6731638" y="1788161"/>
            <a:ext cx="4926962" cy="45364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A perceptual map was created to compare McDonald’s with key plant-based burger competitors in the Australian market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X-axis: Perceived Price (from Low to High)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Y-axis: Perceived Health/Customisation (from Low to High)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Competitors included: Hungry Jack’s, Betty’s Burgers, Soul Burgers, </a:t>
            </a:r>
            <a:r>
              <a:rPr lang="en-GB" dirty="0" err="1">
                <a:latin typeface="Aptos" panose="020B0004020202020204" pitchFamily="34" charset="0"/>
              </a:rPr>
              <a:t>Grill’d</a:t>
            </a:r>
            <a:endParaRPr lang="en-GB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Visual 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>
                <a:latin typeface="Aptos" panose="020B0004020202020204" pitchFamily="34" charset="0"/>
              </a:rPr>
              <a:t>Grill’d</a:t>
            </a:r>
            <a:r>
              <a:rPr lang="en-GB" dirty="0">
                <a:latin typeface="Aptos" panose="020B0004020202020204" pitchFamily="34" charset="0"/>
              </a:rPr>
              <a:t>: High health perception, high 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Aptos" panose="020B0004020202020204" pitchFamily="34" charset="0"/>
              </a:rPr>
              <a:t>Soul Burgers</a:t>
            </a:r>
            <a:r>
              <a:rPr lang="en-GB" dirty="0">
                <a:latin typeface="Aptos" panose="020B0004020202020204" pitchFamily="34" charset="0"/>
              </a:rPr>
              <a:t>: High customisation, slightly less known, moderate-high 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Aptos" panose="020B0004020202020204" pitchFamily="34" charset="0"/>
              </a:rPr>
              <a:t>Betty’s Burgers</a:t>
            </a:r>
            <a:r>
              <a:rPr lang="en-GB" dirty="0">
                <a:latin typeface="Aptos" panose="020B0004020202020204" pitchFamily="34" charset="0"/>
              </a:rPr>
              <a:t>: Strong in brand but moderate on health perception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Aptos" panose="020B0004020202020204" pitchFamily="34" charset="0"/>
              </a:rPr>
              <a:t>Hungry Jack’s</a:t>
            </a:r>
            <a:r>
              <a:rPr lang="en-GB" dirty="0">
                <a:latin typeface="Aptos" panose="020B0004020202020204" pitchFamily="34" charset="0"/>
              </a:rPr>
              <a:t>: Affordable, familiar but low in health and customisation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Aptos" panose="020B0004020202020204" pitchFamily="34" charset="0"/>
              </a:rPr>
              <a:t>McDonald’s</a:t>
            </a:r>
            <a:r>
              <a:rPr lang="en-GB" dirty="0">
                <a:latin typeface="Aptos" panose="020B0004020202020204" pitchFamily="34" charset="0"/>
              </a:rPr>
              <a:t> (Current Perception): Lower-mid on health, high on value but low customisation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43C077-46DC-317C-AF01-24B822A60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98602"/>
            <a:ext cx="5601185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3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9A2F-69F1-03AD-2066-ED6E1E32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3135"/>
            <a:ext cx="9906000" cy="1382156"/>
          </a:xfrm>
        </p:spPr>
        <p:txBody>
          <a:bodyPr>
            <a:normAutofit/>
          </a:bodyPr>
          <a:lstStyle/>
          <a:p>
            <a:r>
              <a:rPr lang="en-GB" sz="2800" dirty="0"/>
              <a:t>Positioning Gap and Strategic Opportunity </a:t>
            </a:r>
            <a:endParaRPr lang="en-AU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89FA5-F12B-4EF3-4FBB-117CFC6D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2074" y="1240246"/>
            <a:ext cx="5028778" cy="4784634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Gap Identified: No brand currently occupies the space offering </a:t>
            </a:r>
            <a:r>
              <a:rPr lang="en-GB" b="1" dirty="0">
                <a:latin typeface="Aptos" panose="020B0004020202020204" pitchFamily="34" charset="0"/>
              </a:rPr>
              <a:t>high customisation and health at a mid-price point</a:t>
            </a:r>
            <a:endParaRPr lang="en-GB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Ideal Position: A customizable, healthy, plant-based burger that is still affordable and convenient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McDonald’s can reposition by offering: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Customisable Paneer-based burger with healthier bread and topping 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Priced competitively at $11.95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Strategic Opportunity: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Capitalize on McDonald’s brand trust and scalability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Attract both value-seekers and health-conscious urban consumers</a:t>
            </a:r>
            <a:endParaRPr lang="en-AU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7C895-0D6C-2231-D909-A3F8BBCABFD6}"/>
              </a:ext>
            </a:extLst>
          </p:cNvPr>
          <p:cNvSpPr txBox="1"/>
          <p:nvPr/>
        </p:nvSpPr>
        <p:spPr>
          <a:xfrm>
            <a:off x="692150" y="4392111"/>
            <a:ext cx="612563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Analysis of segment positions revealed a clear white space: a product that combines health, familiarity, and customisation at a mid-premium price 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This gap presents an opportunity for a differentiated product offering that meets the latent needs of both identified segments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The ideal position is centrally located between value and premium zones, with strong alignment to current brand equity and evolving customer demands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5EDB93-770C-26DC-ADC1-1021FC6C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22" y="1240246"/>
            <a:ext cx="5028778" cy="301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90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B8618-6938-BC99-01CE-904BA262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59" y="685800"/>
            <a:ext cx="6238688" cy="1382233"/>
          </a:xfrm>
        </p:spPr>
        <p:txBody>
          <a:bodyPr>
            <a:normAutofit/>
          </a:bodyPr>
          <a:lstStyle/>
          <a:p>
            <a:r>
              <a:rPr lang="en-AU" sz="3700" b="1"/>
              <a:t>New Product Concept</a:t>
            </a:r>
            <a:br>
              <a:rPr lang="en-AU" sz="3700"/>
            </a:br>
            <a:endParaRPr lang="en-AU" sz="3700"/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75893C72-E930-07B4-7593-B9A888A95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9" r="16055" b="1"/>
          <a:stretch>
            <a:fillRect/>
          </a:stretch>
        </p:blipFill>
        <p:spPr bwMode="auto">
          <a:xfrm>
            <a:off x="20" y="-7444"/>
            <a:ext cx="4966427" cy="6874330"/>
          </a:xfrm>
          <a:custGeom>
            <a:avLst/>
            <a:gdLst/>
            <a:ahLst/>
            <a:cxnLst/>
            <a:rect l="l" t="t" r="r" b="b"/>
            <a:pathLst>
              <a:path w="4966447" h="6874330">
                <a:moveTo>
                  <a:pt x="0" y="0"/>
                </a:moveTo>
                <a:lnTo>
                  <a:pt x="4966447" y="0"/>
                </a:lnTo>
                <a:lnTo>
                  <a:pt x="3355712" y="6874330"/>
                </a:lnTo>
                <a:lnTo>
                  <a:pt x="0" y="687433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43659-8239-08F7-924A-1E8C2F602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158" y="2301949"/>
            <a:ext cx="6238687" cy="371277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Concept: Double Paneer Patty + Multigrain Bread + Customizable toppings + $11.95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Positioned to occupy the ideal zone between affordability and premium experience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Combines the top two preferred patty types (Paneer and Potato) with healthy bread and a customizable format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Designed to appeal to both identified clusters: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Value-Focused Millennials: familiar ingredients, mid-range pricing, gluten-free option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Experimental Urban Adults: customization, indulgence, health-conscious perception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Strategically aligned with the Ideal Position (X=3, Y=5) on the perceptual map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Fits between value and premium offering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>
                <a:latin typeface="Aptos" panose="020B0004020202020204" pitchFamily="34" charset="0"/>
              </a:rPr>
              <a:t>Appeals to both taste &amp; health-conscious segments</a:t>
            </a:r>
          </a:p>
          <a:p>
            <a:pPr>
              <a:lnSpc>
                <a:spcPct val="90000"/>
              </a:lnSpc>
            </a:pPr>
            <a:endParaRPr lang="en-AU" sz="1100" dirty="0">
              <a:latin typeface="Aptos" panose="020B0004020202020204" pitchFamily="34" charset="0"/>
            </a:endParaRP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950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0B2F4-9844-67AA-E551-1B8F4563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/>
              <a:t>Insights and Managerial Recommendations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49F00-31F9-0F68-A60E-C42C76E8A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720" y="2512785"/>
            <a:ext cx="9906000" cy="3420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ptos" panose="020B0004020202020204" pitchFamily="34" charset="0"/>
              </a:rPr>
              <a:t>McDonald's should launch dual product lines to cater to both value-conscious and health-driven consumers: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" panose="020B0004020202020204" pitchFamily="34" charset="0"/>
              </a:rPr>
              <a:t>Value Line</a:t>
            </a:r>
            <a:r>
              <a:rPr lang="en-GB" sz="1600" dirty="0">
                <a:latin typeface="Aptos" panose="020B0004020202020204" pitchFamily="34" charset="0"/>
              </a:rPr>
              <a:t>: Classic Paneer </a:t>
            </a:r>
            <a:r>
              <a:rPr lang="en-GB" sz="1600">
                <a:latin typeface="Aptos" panose="020B0004020202020204" pitchFamily="34" charset="0"/>
              </a:rPr>
              <a:t>burger at </a:t>
            </a:r>
            <a:r>
              <a:rPr lang="en-GB" sz="1600" dirty="0">
                <a:latin typeface="Aptos" panose="020B0004020202020204" pitchFamily="34" charset="0"/>
              </a:rPr>
              <a:t>$10–$12 with minimal customization for speed and affordability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" panose="020B0004020202020204" pitchFamily="34" charset="0"/>
              </a:rPr>
              <a:t>Premium Line</a:t>
            </a:r>
            <a:r>
              <a:rPr lang="en-GB" sz="1600" dirty="0">
                <a:latin typeface="Aptos" panose="020B0004020202020204" pitchFamily="34" charset="0"/>
              </a:rPr>
              <a:t>: Customizable patty (Paneer/Potato) options with healthy bread choices at $13–$15, positioned as a "Healthy Indulgence"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ptos" panose="020B0004020202020204" pitchFamily="34" charset="0"/>
              </a:rPr>
              <a:t>Emphasize quality through pricing and ingredient familiarity to reinforce brand trust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ptos" panose="020B0004020202020204" pitchFamily="34" charset="0"/>
              </a:rPr>
              <a:t>Align product offerings with the ideal perceptual zone to satisfy cross-segment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ptos" panose="020B0004020202020204" pitchFamily="34" charset="0"/>
              </a:rPr>
              <a:t>Integrate both lines into digital ordering platforms to support personalised upselling and repeat purchase behaviour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ptos" panose="020B0004020202020204" pitchFamily="34" charset="0"/>
              </a:rPr>
              <a:t>Use limited-time offers to test and evolve new patty or topping options for ongoing innovation</a:t>
            </a:r>
          </a:p>
          <a:p>
            <a:endParaRPr lang="en-AU" sz="18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491FED-CC24-B1B7-6A61-A71C7001C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598" y="1429243"/>
            <a:ext cx="4427604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8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6767-8131-7081-7604-3CCCA1B3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3200" b="1" dirty="0"/>
              <a:t>Digital Marketing Plan (6-Month)</a:t>
            </a:r>
            <a:br>
              <a:rPr lang="en-AU" sz="3200" dirty="0"/>
            </a:br>
            <a:endParaRPr lang="en-AU" sz="3200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9EE1A7F-7DB9-1593-6B66-9888A73FE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046931"/>
              </p:ext>
            </p:extLst>
          </p:nvPr>
        </p:nvGraphicFramePr>
        <p:xfrm>
          <a:off x="1079500" y="1738421"/>
          <a:ext cx="5054600" cy="4586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6015E0-B4AB-0CC0-17AD-7F04EB5A476E}"/>
              </a:ext>
            </a:extLst>
          </p:cNvPr>
          <p:cNvSpPr txBox="1"/>
          <p:nvPr/>
        </p:nvSpPr>
        <p:spPr>
          <a:xfrm>
            <a:off x="6197600" y="1699791"/>
            <a:ext cx="5200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Aptos" panose="020B0004020202020204" pitchFamily="34" charset="0"/>
              </a:rPr>
              <a:t>Campaign Focus by Month:</a:t>
            </a:r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37D61E-0AD0-F172-C87C-1BF61AE73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1370"/>
              </p:ext>
            </p:extLst>
          </p:nvPr>
        </p:nvGraphicFramePr>
        <p:xfrm>
          <a:off x="6324601" y="2323569"/>
          <a:ext cx="5009726" cy="20726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779780">
                  <a:extLst>
                    <a:ext uri="{9D8B030D-6E8A-4147-A177-3AD203B41FA5}">
                      <a16:colId xmlns:a16="http://schemas.microsoft.com/office/drawing/2014/main" val="981246678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3599130710"/>
                    </a:ext>
                  </a:extLst>
                </a:gridCol>
                <a:gridCol w="1532466">
                  <a:extLst>
                    <a:ext uri="{9D8B030D-6E8A-4147-A177-3AD203B41FA5}">
                      <a16:colId xmlns:a16="http://schemas.microsoft.com/office/drawing/2014/main" val="395278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1600" dirty="0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Objective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774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600" dirty="0"/>
                        <a:t>1–2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Influencer tie-ins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Build awareness among Gen 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898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600"/>
                        <a:t>3–4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Google Search Ads (SEM)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Capture intent-driven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87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600"/>
                        <a:t>5–6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In-app coupons &amp; promo 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Drive conversions and retention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878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249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C46A-00BC-8263-5C2A-1B766C60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b="1"/>
              <a:t>SEO and SEM Strategy</a:t>
            </a:r>
            <a:br>
              <a:rPr lang="en-AU" sz="3600"/>
            </a:b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F2398-7D92-E2D3-4AF8-2A28E3043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16787"/>
            <a:ext cx="3780368" cy="4619945"/>
          </a:xfrm>
          <a:solidFill>
            <a:srgbClr val="FFC000"/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AU" sz="1600" b="1" dirty="0">
                <a:latin typeface="Aptos" panose="020B0004020202020204" pitchFamily="34" charset="0"/>
              </a:rPr>
              <a:t>SEO Strategy:</a:t>
            </a:r>
            <a:endParaRPr lang="en-AU" sz="160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Focus on optimizing McDonald’s plant-based burger landing page to rank organically for high-intent keywords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Target Keywords: "Healthy burgers", "Vegetarian McDonald's burger", "Paneer burger </a:t>
            </a:r>
            <a:r>
              <a:rPr lang="en-AU" sz="1600" dirty="0" err="1">
                <a:latin typeface="Aptos" panose="020B0004020202020204" pitchFamily="34" charset="0"/>
              </a:rPr>
              <a:t>McD</a:t>
            </a:r>
            <a:r>
              <a:rPr lang="en-AU" sz="1600" dirty="0">
                <a:latin typeface="Aptos" panose="020B0004020202020204" pitchFamily="34" charset="0"/>
              </a:rPr>
              <a:t>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On-page SEO: Use keyword-rich headings (H1, H2), meta descriptions, and alt-text for burger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Content Strategy: Publish blog content on nutrition benefits, sustainability, and customization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latin typeface="Aptos" panose="020B0004020202020204" pitchFamily="34" charset="0"/>
              </a:rPr>
              <a:t>Backlink Plan: Partner with local food bloggers or sustainability influencers for organic inbound links</a:t>
            </a:r>
          </a:p>
          <a:p>
            <a:endParaRPr lang="en-AU" sz="16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C2B69-E738-EE58-CE6F-5462E2D70589}"/>
              </a:ext>
            </a:extLst>
          </p:cNvPr>
          <p:cNvSpPr txBox="1"/>
          <p:nvPr/>
        </p:nvSpPr>
        <p:spPr>
          <a:xfrm>
            <a:off x="5670550" y="1352602"/>
            <a:ext cx="6125632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>
                <a:latin typeface="Aptos" panose="020B0004020202020204" pitchFamily="34" charset="0"/>
              </a:rPr>
              <a:t>SEM Strategy:</a:t>
            </a:r>
            <a:endParaRPr lang="en-GB" sz="160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Platform: Google Ads (Australia) targeting food-conscious, value-driven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Ad Formats: Responsive search ads and Google Display Network banners showing the burger concept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Analytics &amp; Tracking: Use UTM parameters and Google Analytics to track CTR, bounce rates, and conversions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Landing Page: Visually engaging product page featuring build-your-own burger tool, price breakdown, and links to order via app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Aptos" panose="020B00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C89B88-BBA5-4AC2-4B94-0E521013C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69042"/>
              </p:ext>
            </p:extLst>
          </p:nvPr>
        </p:nvGraphicFramePr>
        <p:xfrm>
          <a:off x="5998080" y="4358615"/>
          <a:ext cx="5470572" cy="1493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63943">
                  <a:extLst>
                    <a:ext uri="{9D8B030D-6E8A-4147-A177-3AD203B41FA5}">
                      <a16:colId xmlns:a16="http://schemas.microsoft.com/office/drawing/2014/main" val="2944505124"/>
                    </a:ext>
                  </a:extLst>
                </a:gridCol>
                <a:gridCol w="2453005">
                  <a:extLst>
                    <a:ext uri="{9D8B030D-6E8A-4147-A177-3AD203B41FA5}">
                      <a16:colId xmlns:a16="http://schemas.microsoft.com/office/drawing/2014/main" val="3197084203"/>
                    </a:ext>
                  </a:extLst>
                </a:gridCol>
                <a:gridCol w="1953624">
                  <a:extLst>
                    <a:ext uri="{9D8B030D-6E8A-4147-A177-3AD203B41FA5}">
                      <a16:colId xmlns:a16="http://schemas.microsoft.com/office/drawing/2014/main" val="3516699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1600" dirty="0">
                          <a:latin typeface="Aptos" panose="020B0004020202020204" pitchFamily="34" charset="0"/>
                        </a:rPr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 dirty="0">
                          <a:latin typeface="Aptos" panose="020B0004020202020204" pitchFamily="34" charset="0"/>
                        </a:rPr>
                        <a:t>Variation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>
                          <a:latin typeface="Aptos" panose="020B0004020202020204" pitchFamily="34" charset="0"/>
                        </a:rPr>
                        <a:t>Variation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23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600" dirty="0">
                          <a:latin typeface="Aptos" panose="020B0004020202020204" pitchFamily="34" charset="0"/>
                        </a:rPr>
                        <a:t>Headline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 panose="020B0004020202020204" pitchFamily="34" charset="0"/>
                        </a:rPr>
                        <a:t>“Try Our New Healthy Burger”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 panose="020B0004020202020204" pitchFamily="34" charset="0"/>
                        </a:rPr>
                        <a:t>“Customise Your McD Veggie Burger”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123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600">
                          <a:latin typeface="Aptos" panose="020B0004020202020204" pitchFamily="34" charset="0"/>
                        </a:rPr>
                        <a:t>CTA 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>
                          <a:latin typeface="Aptos" panose="020B0004020202020204" pitchFamily="34" charset="0"/>
                        </a:rPr>
                        <a:t>“Order Now”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 dirty="0">
                          <a:latin typeface="Aptos" panose="020B0004020202020204" pitchFamily="34" charset="0"/>
                        </a:rPr>
                        <a:t>“Explore Toppings”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3216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8B1B0DC-6E3C-3F7A-981F-1E9BEBF2A7DF}"/>
              </a:ext>
            </a:extLst>
          </p:cNvPr>
          <p:cNvSpPr txBox="1"/>
          <p:nvPr/>
        </p:nvSpPr>
        <p:spPr>
          <a:xfrm>
            <a:off x="5938278" y="4020061"/>
            <a:ext cx="55303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A/B Testing Plan:</a:t>
            </a:r>
          </a:p>
        </p:txBody>
      </p:sp>
    </p:spTree>
    <p:extLst>
      <p:ext uri="{BB962C8B-B14F-4D97-AF65-F5344CB8AC3E}">
        <p14:creationId xmlns:p14="http://schemas.microsoft.com/office/powerpoint/2010/main" val="584687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CA7A60-8DF8-4B78-BFE3-B372B90AB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9A5737-8D36-4BF8-AC7D-2AA2B6B63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968"/>
            <a:ext cx="3818316" cy="6900306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3818316"/>
              <a:gd name="connsiteY0" fmla="*/ 0 h 6863976"/>
              <a:gd name="connsiteX1" fmla="*/ 3818316 w 3818316"/>
              <a:gd name="connsiteY1" fmla="*/ 0 h 6863976"/>
              <a:gd name="connsiteX2" fmla="*/ 2493114 w 3818316"/>
              <a:gd name="connsiteY2" fmla="*/ 6863976 h 6863976"/>
              <a:gd name="connsiteX3" fmla="*/ 0 w 3818316"/>
              <a:gd name="connsiteY3" fmla="*/ 6863976 h 6863976"/>
              <a:gd name="connsiteX4" fmla="*/ 0 w 3818316"/>
              <a:gd name="connsiteY4" fmla="*/ 0 h 6863976"/>
              <a:gd name="connsiteX0" fmla="*/ 0 w 3818316"/>
              <a:gd name="connsiteY0" fmla="*/ 0 h 6863976"/>
              <a:gd name="connsiteX1" fmla="*/ 3818316 w 3818316"/>
              <a:gd name="connsiteY1" fmla="*/ 0 h 6863976"/>
              <a:gd name="connsiteX2" fmla="*/ 2252194 w 3818316"/>
              <a:gd name="connsiteY2" fmla="*/ 6853025 h 6863976"/>
              <a:gd name="connsiteX3" fmla="*/ 0 w 3818316"/>
              <a:gd name="connsiteY3" fmla="*/ 6863976 h 6863976"/>
              <a:gd name="connsiteX4" fmla="*/ 0 w 3818316"/>
              <a:gd name="connsiteY4" fmla="*/ 0 h 686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8316" h="6863976">
                <a:moveTo>
                  <a:pt x="0" y="0"/>
                </a:moveTo>
                <a:lnTo>
                  <a:pt x="3818316" y="0"/>
                </a:lnTo>
                <a:lnTo>
                  <a:pt x="2252194" y="6853025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6FFD9-D4E3-4241-0EF9-02E0DFC2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82" y="2949942"/>
            <a:ext cx="4054438" cy="2306360"/>
          </a:xfrm>
        </p:spPr>
        <p:txBody>
          <a:bodyPr anchor="t">
            <a:normAutofit/>
          </a:bodyPr>
          <a:lstStyle/>
          <a:p>
            <a:r>
              <a:rPr lang="en-AU" sz="3600" b="1" dirty="0"/>
              <a:t>Summary and Conclusion</a:t>
            </a:r>
            <a:br>
              <a:rPr lang="en-AU" sz="3600" dirty="0"/>
            </a:br>
            <a:endParaRPr lang="en-AU" sz="3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ECE8B0-6962-4F5B-830A-E8F8F9726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2759626"/>
            <a:ext cx="3484282" cy="40953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AF673E-0279-495F-A8A9-F84D0AB5A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259294"/>
            <a:ext cx="4748213" cy="159571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24D409-984F-F5F4-3878-351FEC931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651605"/>
              </p:ext>
            </p:extLst>
          </p:nvPr>
        </p:nvGraphicFramePr>
        <p:xfrm>
          <a:off x="4106586" y="788465"/>
          <a:ext cx="7424423" cy="5245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4743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0F7B9-F744-7B54-C619-D58E53B3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0" y="541964"/>
            <a:ext cx="4768938" cy="38186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Thank You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26D4D608-43F5-03EC-78B0-04EE8D55B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651981"/>
            <a:ext cx="5562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49254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1505</Words>
  <Application>Microsoft Office PowerPoint</Application>
  <PresentationFormat>Widescreen</PresentationFormat>
  <Paragraphs>169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Goudy Old Style</vt:lpstr>
      <vt:lpstr>Lato Extended</vt:lpstr>
      <vt:lpstr>Times New Roman</vt:lpstr>
      <vt:lpstr>Univers Condensed Light</vt:lpstr>
      <vt:lpstr>Walbaum Display Light</vt:lpstr>
      <vt:lpstr>AngleLinesVTI</vt:lpstr>
      <vt:lpstr>24753 - Customer Analytics Assignment 1C </vt:lpstr>
      <vt:lpstr>Business Issue and Problem</vt:lpstr>
      <vt:lpstr>Survey Design and Conjoint Attributes </vt:lpstr>
      <vt:lpstr>Survey Respondent Summary </vt:lpstr>
      <vt:lpstr>Segmentation Methodology </vt:lpstr>
      <vt:lpstr>Cluster 1 Profile: Value-Focused Millennials </vt:lpstr>
      <vt:lpstr>Cluster 2 Profile: Experimental Urban Adults </vt:lpstr>
      <vt:lpstr>Positioning Analysis </vt:lpstr>
      <vt:lpstr>Positioning Gap and Strategic Opportunity </vt:lpstr>
      <vt:lpstr>New Product Concept </vt:lpstr>
      <vt:lpstr>Insights and Managerial Recommendations </vt:lpstr>
      <vt:lpstr>Digital Marketing Plan (6-Month) </vt:lpstr>
      <vt:lpstr>SEO and SEM Strategy </vt:lpstr>
      <vt:lpstr>Summary and 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Aryan Rajashekhar</dc:creator>
  <cp:lastModifiedBy>Rahul Aryan Rajashekhar</cp:lastModifiedBy>
  <cp:revision>1</cp:revision>
  <dcterms:created xsi:type="dcterms:W3CDTF">2025-05-21T08:13:34Z</dcterms:created>
  <dcterms:modified xsi:type="dcterms:W3CDTF">2025-05-22T12:53:38Z</dcterms:modified>
</cp:coreProperties>
</file>